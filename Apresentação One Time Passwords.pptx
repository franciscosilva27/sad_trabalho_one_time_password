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utfit" panose="020B0604020202020204" charset="0"/>
      <p:regular r:id="rId15"/>
      <p:bold r:id="rId16"/>
    </p:embeddedFon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14A2D07C-58D9-87FA-CD37-FD4394B1A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75560" y="1736526"/>
            <a:ext cx="704088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Time Passwords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(OTP)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557712" y="3626048"/>
            <a:ext cx="30765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2º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Trabalho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Prático</a:t>
            </a:r>
            <a:endParaRPr lang="en-US" sz="1800" b="0" i="0" u="none" strike="noStrike" cap="none" dirty="0">
              <a:solidFill>
                <a:srgbClr val="94A3B8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SAD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lang="en-US"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67925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6238875" y="4696569"/>
            <a:ext cx="9525" cy="157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71875" y="4848969"/>
            <a:ext cx="2286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REALIZADO POR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571875" y="5283249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Vasco Gonçalves | 1221510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571875" y="5778549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Francisco Silva | 1241588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29400" y="4848969"/>
            <a:ext cx="1990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DOCENTE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29400" y="5283249"/>
            <a:ext cx="1990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Nuno Fonseca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29400" y="5778549"/>
            <a:ext cx="1990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CTESP Desenvolvimento Ágil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46D5219F-5407-9B36-B59B-7324384A48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97248"/>
            <a:ext cx="5229225" cy="408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97248"/>
            <a:ext cx="5229225" cy="408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3776513"/>
            <a:ext cx="44481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71550" y="2187773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 Atual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71550" y="2671613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método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tradicional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autenticação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baseado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apenas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passwords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tornou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-se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obsoleto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971550" y="3471713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Com 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crescente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número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violações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dados e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sofisticação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dos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ataques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senhas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estáticas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deixaram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ser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barreira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eficaz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proteger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nossa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identidade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digital.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2187773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Solução OTP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72275" y="2671613"/>
            <a:ext cx="4448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CBD5E1"/>
                </a:solidFill>
                <a:latin typeface="Outfit" panose="020B0604020202020204" charset="0"/>
                <a:ea typeface="Outfit"/>
                <a:cs typeface="Outfit"/>
                <a:sym typeface="Outfit"/>
              </a:rPr>
              <a:t>One-Time Password (OTP)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é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sequência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numérica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alfanumérica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gerada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automaticamente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único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Introdução e Contexto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220EA920-0C6C-9978-871E-0A70B6F729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446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2416373"/>
            <a:ext cx="549068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Conceito Fundamental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4399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81025" y="2862113"/>
            <a:ext cx="5229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ransitoriedade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Válido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apenas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sessão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login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transação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3662213"/>
            <a:ext cx="5229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Janela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emporal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Expira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rapidamente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mitigando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riscos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interceção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passiva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4462313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Imprevisibilidade: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Substitui a memória falível do utilizador pela aleatoriedade matemática.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14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146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1470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Funciona o OTP?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7F248A15-9981-6AA7-5E75-D6CBF8E723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40135"/>
            <a:ext cx="3486150" cy="359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40135"/>
            <a:ext cx="3486150" cy="359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40135"/>
            <a:ext cx="3486150" cy="3598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76300" y="3002160"/>
            <a:ext cx="2580322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Segredo Partilhado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76300" y="3628876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Uma "chave-mestra" invisível (Shared Secret) que reside simultaneamente no servidor e no dispositivo do utilizador. É a base de confiança do sistema.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48200" y="3002160"/>
            <a:ext cx="157019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Fator Móvel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48200" y="3628876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Um elemento dinâmico que muda constantemente. Pode ser um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contador de eventos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(sequencial) ou 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tempo atual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do relógio.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20100" y="3002160"/>
            <a:ext cx="216027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 (HMAC)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20100" y="3628876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Algoritmos criptográficos (SHA-256/512) misturam o segredo com o fator móvel para gerar o código final único e sincronizado.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38303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38303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3830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Fundamentos Teóricos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4F2FAEA3-879C-8305-1DA7-BAA01844C4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23020"/>
            <a:ext cx="5229225" cy="363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23020"/>
            <a:ext cx="5229225" cy="363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971550" y="2442120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HOTP (RFC 4226)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71550" y="2887860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HMAC-BASED ONE-TIME PASSWORD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72275" y="2442120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TOTP (RFC 6238)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72275" y="2887860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TIME-BASED ONE-TIME PASSWORD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95375" y="32840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62050" y="3284041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Baseado num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contador de eventos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(+1 a cada pedido).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95375" y="38936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62050" y="3893641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Requer sincronização perfeita entre cliente e servidor.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95375" y="45032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62050" y="4503241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Usa janela de "look-ahead" para evitar dessincronização.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896100" y="32840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962775" y="3284041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Baseado no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tempo atual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896100" y="35888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962775" y="3588841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Padrão da indústria (Google/Microsoft Auth).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896100" y="38936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62775" y="3893641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Não requer interação do utilizador para avançar.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896100" y="41984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62775" y="4198441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Depende da precisão do relógio.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Algoritmos: HOTP vs. TOTP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98EEA8CE-17D7-D948-4F57-BD6782F432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55739"/>
            <a:ext cx="5229225" cy="121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81025" y="2416373"/>
            <a:ext cx="549068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Lógica Temporal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81025" y="2900213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TOTP segmenta o tempo em janelas fixas (habitualmente 30 segundos). O valor de entrada muda automaticamente a cada meio minuto.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4005113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robustez depende de dois pilares: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381750" y="4417367"/>
            <a:ext cx="5229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Onde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X</a:t>
            </a: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é o intervalo de tempo (ex: 30s) e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T0</a:t>
            </a: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é o tempo inicial.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8200" y="4500413"/>
            <a:ext cx="123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62025" y="4500413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Sigilo da chave partilhada (K).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0100" y="4805213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62025" y="4805213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Sincronização do relógio (T).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4700" y="3351014"/>
            <a:ext cx="3743325" cy="62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Matemática do TOTP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3E1DA7A2-5D91-22DE-9972-70402A2784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2035"/>
            <a:ext cx="5372100" cy="367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02035"/>
            <a:ext cx="5372100" cy="367471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876300" y="2964060"/>
            <a:ext cx="267033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Tokens de Hardware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76300" y="3590776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Vantagens: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Isolados da internet (air-gapped), imunes a malware.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76300" y="4581376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Desvantagens: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Custo logístico, risco de perda física.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534150" y="2964060"/>
            <a:ext cx="59007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SMS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34150" y="3590776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Vantagens: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Ubíquo, funciona em qualquer telemóvel sem apps.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34150" y="4581376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Desvantagens: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Extremamente vulnerável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(SIM Swapping), dependente da rede móvel.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34493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3449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Métodos de Entrega: Hardware e SMS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220B3C8D-5632-232F-E9BF-E7BC1D6A3E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59160"/>
            <a:ext cx="5372100" cy="396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59160"/>
            <a:ext cx="5372100" cy="396046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876300" y="2821185"/>
            <a:ext cx="256032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 Tokens (Apps)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76300" y="3447901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Google Authenticator.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76300" y="4133701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Segredo trocado via QR Code. Geração local (offline) usando TOTP.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76300" y="5029051"/>
            <a:ext cx="151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rPr>
              <a:t>Mais seguro que SMS.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34150" y="2821185"/>
            <a:ext cx="248031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Push Notifications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534150" y="3447901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Pedido de aprovação enviado diretamente para o dispositivo.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34150" y="4438501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Excelente experiência de utilizador (UX), mas requer internet e dispositivo seguro.</a:t>
            </a:r>
            <a:endParaRPr/>
          </a:p>
        </p:txBody>
      </p:sp>
      <p:pic>
        <p:nvPicPr>
          <p:cNvPr id="220" name="Google Shape;2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20206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20206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Métodos de Entrega: Apps e Notificações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E0117530-DF5F-C43E-986E-FA761BDABB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81025" y="771525"/>
            <a:ext cx="519064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Vulnerabilidades Críticas</a:t>
            </a:r>
            <a:endParaRPr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3098" y="9524"/>
            <a:ext cx="629982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81025" y="1917352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Engenharia Social &amp; Phishing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81025" y="240119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Ferramentas como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Evilginx2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permitem criar páginas falsas que intercetam o código OTP em tempo real, permitindo o roubo de sessão imediato.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81025" y="3791842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 Swapping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81025" y="4275683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atacante transfere o número da vítima para um novo cartão SIM, recebendo todos os SMS bancários e de recuperação de conta.</a:t>
            </a:r>
            <a:endParaRPr/>
          </a:p>
        </p:txBody>
      </p:sp>
      <p:pic>
        <p:nvPicPr>
          <p:cNvPr id="235" name="Google Shape;23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2687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01367"/>
            <a:ext cx="2000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BCDE4229-96B8-16C7-A8E0-679EDFBF50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2048"/>
            <a:ext cx="5229225" cy="3474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02048"/>
            <a:ext cx="5229225" cy="347469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971550" y="2492573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NIST (SP 800-63B)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971550" y="2976413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Instituto Nacional de Padrões e Tecnologia dos EUA classifica 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SMS como "Restrito"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971550" y="3776513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Recomenda o abandono do SMS em favor de tokens de hardware ou aplicações criptográficas devido às falhas na rede SS7.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772275" y="2492573"/>
            <a:ext cx="46705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PSD2 (União Europeia)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72275" y="2976413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Diretiva que exige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Autenticação Forte (SCA)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pagamentos.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72275" y="3776513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Exige 2 de 3 fatores: Conhecimento, Posse e Inerência. Bancos europeus estão a migrar massivamente do SMS para validação biométrica em App.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Normas e Regulamentações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B530C4DE-4691-BB8D-70FB-15A3F32787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446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81025" y="2287785"/>
            <a:ext cx="549068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Além do OTP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81025" y="2771626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mercado caminha para a eliminação das senhas e dos segredos partilhados.</a:t>
            </a:r>
            <a:endParaRPr/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4399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81025" y="3571726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FIDO2 / WebAuthn: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Usa criptografia assimétrica (chaves pública/privada). A chave privada nunca sai do dispositivo.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81025" y="4324201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Passkeys: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Implementação comercial do FIDO2 (Apple, Google, Microsoft). Autenticação via biometria (FaceID/TouchID).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71525" y="581025"/>
            <a:ext cx="11381422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Futuro</a:t>
            </a:r>
            <a:endParaRPr dirty="0"/>
          </a:p>
        </p:txBody>
      </p:sp>
      <p:sp>
        <p:nvSpPr>
          <p:cNvPr id="264" name="Google Shape;264;p23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8;p25" descr="image.png">
            <a:extLst>
              <a:ext uri="{FF2B5EF4-FFF2-40B4-BE49-F238E27FC236}">
                <a16:creationId xmlns:a16="http://schemas.microsoft.com/office/drawing/2014/main" id="{2A9D5F72-D237-6E0F-BC84-15F65F92A5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0925" y="-102412"/>
            <a:ext cx="12556150" cy="70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/>
          <p:nvPr/>
        </p:nvSpPr>
        <p:spPr>
          <a:xfrm>
            <a:off x="5619750" y="2105173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4485798" y="2429023"/>
            <a:ext cx="3220402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2286000" y="328999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OTP foi um salto qualitativo essencial na segurança, mitigando a reutilização de senhas. Contudo, métodos como o SMS estão obsoletos.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2286000" y="4307085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 estratégia ideal combina algoritmos TOTP hoje, enquanto prepara a transição para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Passkeys</a:t>
            </a:r>
            <a:r>
              <a:rPr lang="en-US" sz="18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e um futuro sem senhas.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747</Words>
  <Application>Microsoft Office PowerPoint</Application>
  <PresentationFormat>Ecrã Panorâmico</PresentationFormat>
  <Paragraphs>90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Arial</vt:lpstr>
      <vt:lpstr>Outfit</vt:lpstr>
      <vt:lpstr>Space Grotesk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Vasco Morais Gonçalves</cp:lastModifiedBy>
  <cp:revision>4</cp:revision>
  <dcterms:modified xsi:type="dcterms:W3CDTF">2026-01-17T20:07:30Z</dcterms:modified>
</cp:coreProperties>
</file>