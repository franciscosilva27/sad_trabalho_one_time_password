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Outfit" panose="020B0604020202020204" charset="0"/>
      <p:regular r:id="rId16"/>
      <p:bold r:id="rId17"/>
    </p:embeddedFont>
    <p:embeddedFont>
      <p:font typeface="Space Grotesk" panose="020B060402020202020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12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14A2D07C-58D9-87FA-CD37-FD4394B1A24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575560" y="1736526"/>
            <a:ext cx="7040880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One Time Passwords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 (OTP)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4557712" y="3626048"/>
            <a:ext cx="3076575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2º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Trabalho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800" b="0" i="0" u="none" strike="noStrike" cap="none" dirty="0" err="1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Prático</a:t>
            </a:r>
            <a:endParaRPr lang="en-US" sz="1800" b="0" i="0" u="none" strike="noStrike" cap="none" dirty="0">
              <a:solidFill>
                <a:srgbClr val="94A3B8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SAD</a:t>
            </a:r>
            <a:r>
              <a:rPr lang="en-US" sz="1800" b="0" i="0" u="none" strike="noStrike" cap="none" dirty="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endParaRPr dirty="0"/>
          </a:p>
        </p:txBody>
      </p:sp>
      <p:pic>
        <p:nvPicPr>
          <p:cNvPr id="87" name="Google Shape;87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0" y="679251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/>
          <p:nvPr/>
        </p:nvSpPr>
        <p:spPr>
          <a:xfrm>
            <a:off x="6238875" y="4696569"/>
            <a:ext cx="9525" cy="15772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3571875" y="4848969"/>
            <a:ext cx="2286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REALIZADO POR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3571875" y="5283249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Vasco Gonçalves | 1221510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3571875" y="5778549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Francisco Silva | 1241588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6629400" y="4848969"/>
            <a:ext cx="19907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DOCENTE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629400" y="5283249"/>
            <a:ext cx="19907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Nuno Fonseca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6629400" y="5778549"/>
            <a:ext cx="19907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CTESP Desenvolvimento Ágil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46D5219F-5407-9B36-B59B-7324384A487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797248"/>
            <a:ext cx="5229225" cy="40842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797248"/>
            <a:ext cx="5229225" cy="40842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72275" y="3776513"/>
            <a:ext cx="4448175" cy="15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971550" y="2187773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O Problema Atual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971550" y="2671613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método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tradicional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autenticação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baseado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apenas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passwords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tornou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-se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obsoleto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971550" y="3471713"/>
            <a:ext cx="44481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Com o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crescente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número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violações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de dados e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sofisticação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dos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ataques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, as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senhas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estáticas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deixaram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de ser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uma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barreira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eficaz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para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proteger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nossa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identidade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digital.</a:t>
            </a:r>
            <a:endParaRPr dirty="0"/>
          </a:p>
        </p:txBody>
      </p:sp>
      <p:sp>
        <p:nvSpPr>
          <p:cNvPr id="106" name="Google Shape;106;p14"/>
          <p:cNvSpPr txBox="1"/>
          <p:nvPr/>
        </p:nvSpPr>
        <p:spPr>
          <a:xfrm>
            <a:off x="6772275" y="2187773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 Solução OTP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6772275" y="2671613"/>
            <a:ext cx="44481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rgbClr val="CBD5E1"/>
                </a:solidFill>
                <a:latin typeface="Outfit" panose="020B0604020202020204" charset="0"/>
                <a:ea typeface="Outfit"/>
                <a:cs typeface="Outfit"/>
                <a:sym typeface="Outfit"/>
              </a:rPr>
              <a:t>One-Time Password (OTP) 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é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uma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sequência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numérica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ou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alfanumérica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gerada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automaticamente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para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uso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único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 dirty="0"/>
          </a:p>
        </p:txBody>
      </p:sp>
      <p:sp>
        <p:nvSpPr>
          <p:cNvPr id="108" name="Google Shape;108;p14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Introdução e Contexto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220EA920-0C6C-9978-871E-0A70B6F729E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34467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81025" y="2416373"/>
            <a:ext cx="549068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Conceito Fundamental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1943992"/>
            <a:ext cx="52101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581025" y="2862113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Transitoriedade: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Válido apenas para uma sessão de login ou transação.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581025" y="3662213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Janela Temporal: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Expira rapidamente, mitigando riscos de interceção passiva.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81025" y="4462313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Imprevisibilidade: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Substitui a memória falível do utilizador pela aleatoriedade matemática.</a:t>
            </a:r>
            <a:endParaRPr/>
          </a:p>
        </p:txBody>
      </p:sp>
      <p:pic>
        <p:nvPicPr>
          <p:cNvPr id="121" name="Google Shape;12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2914501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3714601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4514701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Como Funciona o OTP?</a:t>
            </a:r>
            <a:endParaRPr/>
          </a:p>
        </p:txBody>
      </p:sp>
      <p:sp>
        <p:nvSpPr>
          <p:cNvPr id="125" name="Google Shape;125;p15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7F248A15-9981-6AA7-5E75-D6CBF8E7231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40135"/>
            <a:ext cx="3486150" cy="35985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40135"/>
            <a:ext cx="3486150" cy="35985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40135"/>
            <a:ext cx="3486150" cy="359851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876300" y="3002160"/>
            <a:ext cx="2580322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Segredo Partilhado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76300" y="3628876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Uma "chave-mestra" invisível (Shared Secret) que reside simultaneamente no servidor e no dispositivo do utilizador. É a base de confiança do sistema.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4648200" y="3002160"/>
            <a:ext cx="157019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Fator Móvel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4648200" y="3628876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Um elemento dinâmico que muda constantemente. Pode ser um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contador de eventos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(sequencial) ou 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tempo atual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do relógio.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420100" y="3002160"/>
            <a:ext cx="216027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Hashing (HMAC)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420100" y="3628876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Algoritmos criptográficos (SHA-256/512) misturam o segredo com o fator móvel para gerar o código final único e sincronizado.</a:t>
            </a:r>
            <a:endParaRPr/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303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303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303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Fundamentos Teóricos</a:t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4F2FAEA3-879C-8305-1DA7-BAA01844C4F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23020"/>
            <a:ext cx="5229225" cy="36327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023020"/>
            <a:ext cx="5229225" cy="363274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971550" y="2442120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HOTP (RFC 4226)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971550" y="2887860"/>
            <a:ext cx="44481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HMAC-BASED ONE-TIME PASSWORD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6772275" y="2442120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TOTP (RFC 6238)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6772275" y="2887860"/>
            <a:ext cx="44481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TIME-BASED ONE-TIME PASSWORD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1095375" y="32840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1162050" y="3284041"/>
            <a:ext cx="4257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Baseado num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contador de eventos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(+1 a cada pedido).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1095375" y="38936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1162050" y="3893641"/>
            <a:ext cx="4257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Requer sincronização perfeita entre cliente e servidor.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1095375" y="45032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162050" y="4503241"/>
            <a:ext cx="4257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Usa janela de "look-ahead" para evitar dessincronização.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896100" y="32840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6962775" y="3284041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Baseado no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tempo atual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896100" y="35888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962775" y="3588841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Padrão da indústria (Google/Microsoft Auth).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6896100" y="38936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6962775" y="3893641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Não requer interação do utilizador para avançar.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896100" y="4198441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•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962775" y="4198441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Depende da precisão do relógio.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Algoritmos: HOTP vs. TOTP</a:t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98EEA8CE-17D7-D948-4F57-BD6782F432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3055739"/>
            <a:ext cx="5229225" cy="1218753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8"/>
          <p:cNvSpPr txBox="1"/>
          <p:nvPr/>
        </p:nvSpPr>
        <p:spPr>
          <a:xfrm>
            <a:off x="581025" y="2416373"/>
            <a:ext cx="549068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 Lógica Temporal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581025" y="2900213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TOTP segmenta o tempo em janelas fixas (habitualmente 30 segundos). O valor de entrada muda automaticamente a cada meio minuto.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581025" y="4005113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 robustez depende de dois pilares: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6381750" y="4417367"/>
            <a:ext cx="52292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Onde </a:t>
            </a:r>
            <a:r>
              <a:rPr lang="en-US" sz="1200" b="1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X</a:t>
            </a: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é o intervalo de tempo (ex: 30s) e </a:t>
            </a:r>
            <a:r>
              <a:rPr lang="en-US" sz="1200" b="1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T0</a:t>
            </a:r>
            <a:r>
              <a:rPr lang="en-US" sz="120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é o tempo inicial.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838200" y="4500413"/>
            <a:ext cx="1238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1.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962025" y="4500413"/>
            <a:ext cx="4848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Sigilo da chave partilhada (K).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800100" y="4805213"/>
            <a:ext cx="1619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2.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962025" y="4805213"/>
            <a:ext cx="4848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19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Sincronização do relógio (T).</a:t>
            </a:r>
            <a:endParaRPr/>
          </a:p>
        </p:txBody>
      </p:sp>
      <p:pic>
        <p:nvPicPr>
          <p:cNvPr id="186" name="Google Shape;186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24700" y="3351014"/>
            <a:ext cx="3743325" cy="628203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8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 Matemática do TOTP</a:t>
            </a:r>
            <a:endParaRPr/>
          </a:p>
        </p:txBody>
      </p:sp>
      <p:sp>
        <p:nvSpPr>
          <p:cNvPr id="188" name="Google Shape;188;p18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3E1DA7A2-5D91-22DE-9972-70402A2784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02035"/>
            <a:ext cx="5372100" cy="36747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002035"/>
            <a:ext cx="5372100" cy="367471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876300" y="2964060"/>
            <a:ext cx="267033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Tokens de Hardware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876300" y="359077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Vantagens: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Isolados da internet (air-gapped), imunes a malware.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876300" y="4581376"/>
            <a:ext cx="44100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Desvantagens: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Custo logístico, risco de perda física.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6534150" y="2964060"/>
            <a:ext cx="59007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SMS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6534150" y="359077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Vantagens: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Ubíquo, funciona em qualquer telemóvel sem apps.</a:t>
            </a:r>
            <a:endParaRPr/>
          </a:p>
        </p:txBody>
      </p:sp>
      <p:sp>
        <p:nvSpPr>
          <p:cNvPr id="201" name="Google Shape;201;p19"/>
          <p:cNvSpPr txBox="1"/>
          <p:nvPr/>
        </p:nvSpPr>
        <p:spPr>
          <a:xfrm>
            <a:off x="6534150" y="458137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Desvantagens: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-US" sz="1500" b="0" i="0" u="none" strike="noStrike" cap="none">
                <a:solidFill>
                  <a:srgbClr val="EF4444"/>
                </a:solidFill>
                <a:latin typeface="Outfit"/>
                <a:ea typeface="Outfit"/>
                <a:cs typeface="Outfit"/>
                <a:sym typeface="Outfit"/>
              </a:rPr>
              <a:t>Extremamente vulnerável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(SIM Swapping), dependente da rede móvel.</a:t>
            </a:r>
            <a:endParaRPr/>
          </a:p>
        </p:txBody>
      </p:sp>
      <p:pic>
        <p:nvPicPr>
          <p:cNvPr id="202" name="Google Shape;202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6300" y="234493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34150" y="234493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9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Métodos de Entrega: Hardware e SMS</a:t>
            </a:r>
            <a:endParaRPr/>
          </a:p>
        </p:txBody>
      </p:sp>
      <p:sp>
        <p:nvSpPr>
          <p:cNvPr id="205" name="Google Shape;205;p19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220B3C8D-5632-232F-E9BF-E7BC1D6A3E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859160"/>
            <a:ext cx="5372100" cy="3960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859160"/>
            <a:ext cx="5372100" cy="396046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876300" y="2821185"/>
            <a:ext cx="256032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Soft Tokens (Apps)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876300" y="3447901"/>
            <a:ext cx="21621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Ex: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Google Authenticator.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876300" y="4133701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Segredo trocado via QR Code. Geração local (offline) usando TOTP.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876300" y="5029051"/>
            <a:ext cx="1514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2C55E"/>
                </a:solidFill>
                <a:latin typeface="Outfit"/>
                <a:ea typeface="Outfit"/>
                <a:cs typeface="Outfit"/>
                <a:sym typeface="Outfit"/>
              </a:rPr>
              <a:t>Mais seguro que SMS.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534150" y="2821185"/>
            <a:ext cx="248031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Push Notifications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6534150" y="3447901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Pedido de aprovação enviado diretamente para o dispositivo.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534150" y="4438501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Excelente experiência de utilizador (UX), mas requer internet e dispositivo seguro.</a:t>
            </a:r>
            <a:endParaRPr/>
          </a:p>
        </p:txBody>
      </p:sp>
      <p:pic>
        <p:nvPicPr>
          <p:cNvPr id="220" name="Google Shape;22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6300" y="2202060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34150" y="220206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Métodos de Entrega: Apps e Notificações</a:t>
            </a:r>
            <a:endParaRPr/>
          </a:p>
        </p:txBody>
      </p:sp>
      <p:sp>
        <p:nvSpPr>
          <p:cNvPr id="223" name="Google Shape;223;p20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E0117530-DF5F-C43E-986E-FA761BDABBD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1"/>
          <p:cNvSpPr txBox="1"/>
          <p:nvPr/>
        </p:nvSpPr>
        <p:spPr>
          <a:xfrm>
            <a:off x="581025" y="771525"/>
            <a:ext cx="5190648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Vulnerabilidades Críticas</a:t>
            </a:r>
            <a:endParaRPr/>
          </a:p>
        </p:txBody>
      </p:sp>
      <p:pic>
        <p:nvPicPr>
          <p:cNvPr id="230" name="Google Shape;23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1"/>
          <p:cNvSpPr txBox="1"/>
          <p:nvPr/>
        </p:nvSpPr>
        <p:spPr>
          <a:xfrm>
            <a:off x="581025" y="1917352"/>
            <a:ext cx="5190648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Engenharia Social &amp; Phishing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581025" y="2401192"/>
            <a:ext cx="49434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Ferramentas como </a:t>
            </a:r>
            <a:r>
              <a:rPr lang="en-US" sz="1500" b="0" i="1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Evilginx2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permitem criar páginas falsas que intercetam o código OTP em tempo real, permitindo o roubo de sessão imediato.</a:t>
            </a:r>
            <a:endParaRPr/>
          </a:p>
        </p:txBody>
      </p:sp>
      <p:sp>
        <p:nvSpPr>
          <p:cNvPr id="233" name="Google Shape;233;p21"/>
          <p:cNvSpPr txBox="1"/>
          <p:nvPr/>
        </p:nvSpPr>
        <p:spPr>
          <a:xfrm>
            <a:off x="581025" y="3791842"/>
            <a:ext cx="5190648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0025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SIM Swapping</a:t>
            </a:r>
            <a:endParaRPr/>
          </a:p>
        </p:txBody>
      </p:sp>
      <p:sp>
        <p:nvSpPr>
          <p:cNvPr id="234" name="Google Shape;234;p21"/>
          <p:cNvSpPr txBox="1"/>
          <p:nvPr/>
        </p:nvSpPr>
        <p:spPr>
          <a:xfrm>
            <a:off x="581025" y="4275683"/>
            <a:ext cx="49434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atacante transfere o número da vítima para um novo cartão SIM, recebendo todos os SMS bancários e de recuperação de conta.</a:t>
            </a:r>
            <a:endParaRPr/>
          </a:p>
        </p:txBody>
      </p:sp>
      <p:pic>
        <p:nvPicPr>
          <p:cNvPr id="235" name="Google Shape;235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926877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801367"/>
            <a:ext cx="200025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BCDE4229-96B8-16C7-A8E0-679EDFBF50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02048"/>
            <a:ext cx="5229225" cy="3474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102048"/>
            <a:ext cx="5229225" cy="347469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971550" y="2492573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NIST (SP 800-63B)</a:t>
            </a:r>
            <a:endParaRPr/>
          </a:p>
        </p:txBody>
      </p:sp>
      <p:sp>
        <p:nvSpPr>
          <p:cNvPr id="245" name="Google Shape;245;p22"/>
          <p:cNvSpPr txBox="1"/>
          <p:nvPr/>
        </p:nvSpPr>
        <p:spPr>
          <a:xfrm>
            <a:off x="971550" y="2976413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Instituto Nacional de Padrões e Tecnologia dos EUA classifica o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SMS como "Restrito"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.</a:t>
            </a:r>
            <a:endParaRPr/>
          </a:p>
        </p:txBody>
      </p:sp>
      <p:sp>
        <p:nvSpPr>
          <p:cNvPr id="246" name="Google Shape;246;p22"/>
          <p:cNvSpPr txBox="1"/>
          <p:nvPr/>
        </p:nvSpPr>
        <p:spPr>
          <a:xfrm>
            <a:off x="971550" y="3776513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Recomenda o abandono do SMS em favor de tokens de hardware ou aplicações criptográficas devido às falhas na rede SS7.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6772275" y="2492573"/>
            <a:ext cx="4670583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PSD2 (União Europeia)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6772275" y="2976413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Diretiva que exige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Autenticação Forte (SCA)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para pagamentos.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6772275" y="3776513"/>
            <a:ext cx="44481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Exige 2 de 3 fatores: Conhecimento, Posse e Inerência. Bancos europeus estão a migrar massivamente do SMS para validação biométrica em App.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Normas e Regulamentações</a:t>
            </a:r>
            <a:endParaRPr/>
          </a:p>
        </p:txBody>
      </p:sp>
      <p:sp>
        <p:nvSpPr>
          <p:cNvPr id="251" name="Google Shape;251;p22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B530C4DE-4691-BB8D-70FB-15A3F32787A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34467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3"/>
          <p:cNvSpPr txBox="1"/>
          <p:nvPr/>
        </p:nvSpPr>
        <p:spPr>
          <a:xfrm>
            <a:off x="581025" y="2287785"/>
            <a:ext cx="5490686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Além do OTP</a:t>
            </a:r>
            <a:endParaRPr/>
          </a:p>
        </p:txBody>
      </p:sp>
      <p:sp>
        <p:nvSpPr>
          <p:cNvPr id="259" name="Google Shape;259;p23"/>
          <p:cNvSpPr txBox="1"/>
          <p:nvPr/>
        </p:nvSpPr>
        <p:spPr>
          <a:xfrm>
            <a:off x="581025" y="2771626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mercado caminha para a eliminação das senhas e dos segredos partilhados.</a:t>
            </a:r>
            <a:endParaRPr/>
          </a:p>
        </p:txBody>
      </p:sp>
      <p:pic>
        <p:nvPicPr>
          <p:cNvPr id="260" name="Google Shape;260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1943992"/>
            <a:ext cx="52101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3"/>
          <p:cNvSpPr txBox="1"/>
          <p:nvPr/>
        </p:nvSpPr>
        <p:spPr>
          <a:xfrm>
            <a:off x="581025" y="3571726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FIDO2 / WebAuthn: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Usa criptografia assimétrica (chaves pública/privada). A chave privada nunca sai do dispositivo.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581025" y="4324201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Passkeys: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Implementação comercial do FIDO2 (Apple, Google, Microsoft). Autenticação via biometria (FaceID/TouchID).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771525" y="581025"/>
            <a:ext cx="11381422" cy="53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 Futuro</a:t>
            </a:r>
            <a:endParaRPr dirty="0"/>
          </a:p>
        </p:txBody>
      </p:sp>
      <p:sp>
        <p:nvSpPr>
          <p:cNvPr id="264" name="Google Shape;264;p23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8;p25" descr="image.png">
            <a:extLst>
              <a:ext uri="{FF2B5EF4-FFF2-40B4-BE49-F238E27FC236}">
                <a16:creationId xmlns:a16="http://schemas.microsoft.com/office/drawing/2014/main" id="{2A9D5F72-D237-6E0F-BC84-15F65F92A59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4"/>
          <p:cNvSpPr/>
          <p:nvPr/>
        </p:nvSpPr>
        <p:spPr>
          <a:xfrm>
            <a:off x="5619750" y="2105173"/>
            <a:ext cx="9525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4"/>
          <p:cNvSpPr txBox="1"/>
          <p:nvPr/>
        </p:nvSpPr>
        <p:spPr>
          <a:xfrm>
            <a:off x="4485798" y="2429023"/>
            <a:ext cx="3220402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Conclusão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2286000" y="3289994"/>
            <a:ext cx="762000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 OTP foi um salto qualitativo essencial na segurança, mitigando a reutilização de senhas. Contudo, métodos como o SMS estão obsoletos.</a:t>
            </a:r>
            <a:endParaRPr/>
          </a:p>
        </p:txBody>
      </p:sp>
      <p:sp>
        <p:nvSpPr>
          <p:cNvPr id="273" name="Google Shape;273;p24"/>
          <p:cNvSpPr txBox="1"/>
          <p:nvPr/>
        </p:nvSpPr>
        <p:spPr>
          <a:xfrm>
            <a:off x="2286000" y="4307085"/>
            <a:ext cx="762000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A estratégia ideal combina algoritmos TOTP hoje, enquanto prepara a transição para </a:t>
            </a:r>
            <a:r>
              <a:rPr lang="en-US" sz="1800" b="1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Passkeys</a:t>
            </a:r>
            <a:r>
              <a:rPr lang="en-US" sz="1800" b="0" i="0" u="none" strike="noStrike" cap="none">
                <a:solidFill>
                  <a:srgbClr val="38BDF8"/>
                </a:solidFill>
                <a:latin typeface="Outfit"/>
                <a:ea typeface="Outfit"/>
                <a:cs typeface="Outfit"/>
                <a:sym typeface="Outfit"/>
              </a:rPr>
              <a:t> e um futuro sem senhas.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0925" y="-102412"/>
            <a:ext cx="12556150" cy="7062826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5"/>
          <p:cNvSpPr/>
          <p:nvPr/>
        </p:nvSpPr>
        <p:spPr>
          <a:xfrm>
            <a:off x="581025" y="2568029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5"/>
          <p:cNvSpPr/>
          <p:nvPr/>
        </p:nvSpPr>
        <p:spPr>
          <a:xfrm>
            <a:off x="581025" y="3352800"/>
            <a:ext cx="1102995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5"/>
          <p:cNvSpPr/>
          <p:nvPr/>
        </p:nvSpPr>
        <p:spPr>
          <a:xfrm>
            <a:off x="581025" y="334327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5"/>
          <p:cNvSpPr/>
          <p:nvPr/>
        </p:nvSpPr>
        <p:spPr>
          <a:xfrm>
            <a:off x="581025" y="334327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5"/>
          <p:cNvSpPr/>
          <p:nvPr/>
        </p:nvSpPr>
        <p:spPr>
          <a:xfrm>
            <a:off x="581025" y="412804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5"/>
          <p:cNvSpPr/>
          <p:nvPr/>
        </p:nvSpPr>
        <p:spPr>
          <a:xfrm>
            <a:off x="581025" y="4128045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" name="Google Shape;28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71745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5"/>
          <p:cNvSpPr txBox="1"/>
          <p:nvPr/>
        </p:nvSpPr>
        <p:spPr>
          <a:xfrm>
            <a:off x="1676400" y="2710904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https://iosxpert.biz/wp-content/uploads/2023/01/Two-Factor-Authentication@2x-1-1024x592.png.webp</a:t>
            </a:r>
            <a:endParaRPr/>
          </a:p>
        </p:txBody>
      </p:sp>
      <p:sp>
        <p:nvSpPr>
          <p:cNvPr id="287" name="Google Shape;287;p25"/>
          <p:cNvSpPr txBox="1"/>
          <p:nvPr/>
        </p:nvSpPr>
        <p:spPr>
          <a:xfrm>
            <a:off x="1676400" y="2956619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iosxpert.biz</a:t>
            </a:r>
            <a:endParaRPr/>
          </a:p>
        </p:txBody>
      </p:sp>
      <p:pic>
        <p:nvPicPr>
          <p:cNvPr id="288" name="Google Shape;288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50222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5"/>
          <p:cNvSpPr txBox="1"/>
          <p:nvPr/>
        </p:nvSpPr>
        <p:spPr>
          <a:xfrm>
            <a:off x="1676400" y="3495675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https://static.vecteezy.com/system/resources/previews/059/447/435/non_2x/hacker-silhouette-illustration-cyber-security-digital-crime-concept-vector.jpg</a:t>
            </a:r>
            <a:endParaRPr/>
          </a:p>
        </p:txBody>
      </p:sp>
      <p:sp>
        <p:nvSpPr>
          <p:cNvPr id="290" name="Google Shape;290;p25"/>
          <p:cNvSpPr txBox="1"/>
          <p:nvPr/>
        </p:nvSpPr>
        <p:spPr>
          <a:xfrm>
            <a:off x="1676400" y="3741390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www.vecteezy.com</a:t>
            </a:r>
            <a:endParaRPr/>
          </a:p>
        </p:txBody>
      </p:sp>
      <p:pic>
        <p:nvPicPr>
          <p:cNvPr id="291" name="Google Shape;291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861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5"/>
          <p:cNvSpPr txBox="1"/>
          <p:nvPr/>
        </p:nvSpPr>
        <p:spPr>
          <a:xfrm>
            <a:off x="1676400" y="4280445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https://img.freepik.com/premium-photo/facial-recognition-scanning-smartphone-digital-identity-biometric-technology-futuristic-security-artificial-intelligence-face-scan-interface-mobile-authentication_72482-15163.jpg</a:t>
            </a:r>
            <a:endParaRPr/>
          </a:p>
        </p:txBody>
      </p:sp>
      <p:sp>
        <p:nvSpPr>
          <p:cNvPr id="293" name="Google Shape;293;p25"/>
          <p:cNvSpPr txBox="1"/>
          <p:nvPr/>
        </p:nvSpPr>
        <p:spPr>
          <a:xfrm>
            <a:off x="1676400" y="4724251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www.freepik.com</a:t>
            </a:r>
            <a:endParaRPr/>
          </a:p>
        </p:txBody>
      </p:sp>
      <p:sp>
        <p:nvSpPr>
          <p:cNvPr id="294" name="Google Shape;294;p25"/>
          <p:cNvSpPr txBox="1"/>
          <p:nvPr/>
        </p:nvSpPr>
        <p:spPr>
          <a:xfrm>
            <a:off x="771525" y="581025"/>
            <a:ext cx="11381422" cy="43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Image Sources</a:t>
            </a:r>
            <a:endParaRPr/>
          </a:p>
        </p:txBody>
      </p:sp>
      <p:sp>
        <p:nvSpPr>
          <p:cNvPr id="295" name="Google Shape;295;p25"/>
          <p:cNvSpPr/>
          <p:nvPr/>
        </p:nvSpPr>
        <p:spPr>
          <a:xfrm>
            <a:off x="581025" y="581025"/>
            <a:ext cx="47625" cy="43993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825</Words>
  <Application>Microsoft Office PowerPoint</Application>
  <PresentationFormat>Ecrã Panorâmico</PresentationFormat>
  <Paragraphs>97</Paragraphs>
  <Slides>13</Slides>
  <Notes>13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13</vt:i4>
      </vt:variant>
    </vt:vector>
  </HeadingPairs>
  <TitlesOfParts>
    <vt:vector size="18" baseType="lpstr">
      <vt:lpstr>Arial</vt:lpstr>
      <vt:lpstr>Outfit</vt:lpstr>
      <vt:lpstr>Space Grotesk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Vasco Morais Gonçalves</cp:lastModifiedBy>
  <cp:revision>3</cp:revision>
  <dcterms:modified xsi:type="dcterms:W3CDTF">2026-01-17T19:49:17Z</dcterms:modified>
</cp:coreProperties>
</file>