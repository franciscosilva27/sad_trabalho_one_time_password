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embeddedFontLst>
    <p:embeddedFont>
      <p:font typeface="Outfit" panose="020B0604020202020204" charset="0"/>
      <p:regular r:id="rId16"/>
      <p:bold r:id="rId17"/>
    </p:embeddedFont>
    <p:embeddedFont>
      <p:font typeface="Space Grotesk" panose="020B0604020202020204" charset="0"/>
      <p:regular r:id="rId18"/>
      <p:bold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5" d="100"/>
          <a:sy n="65" d="100"/>
        </p:scale>
        <p:origin x="912" y="7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" name="Google Shape;97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" name="Google Shape;128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4" name="Google Shape;17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8" name="Google Shape;20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9" name="Google Shape;239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4" name="Google Shape;254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7" name="Google Shape;267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6" name="Google Shape;276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1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4.png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2575560" y="1736526"/>
            <a:ext cx="7040880" cy="15085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i="0" u="none" strike="noStrike" cap="none">
                <a:solidFill>
                  <a:srgbClr val="E2E8F0"/>
                </a:solidFill>
                <a:latin typeface="Space Grotesk"/>
                <a:ea typeface="Space Grotesk"/>
                <a:cs typeface="Space Grotesk"/>
                <a:sym typeface="Space Grotesk"/>
              </a:rPr>
              <a:t>One Time Passwords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5400" b="1" i="0" u="none" strike="noStrike" cap="none">
                <a:solidFill>
                  <a:srgbClr val="E2E8F0"/>
                </a:solidFill>
                <a:latin typeface="Space Grotesk"/>
                <a:ea typeface="Space Grotesk"/>
                <a:cs typeface="Space Grotesk"/>
                <a:sym typeface="Space Grotesk"/>
              </a:rPr>
              <a:t> (OTP)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4557712" y="3626048"/>
            <a:ext cx="3076575" cy="886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2º </a:t>
            </a:r>
            <a:r>
              <a:rPr lang="en-US" sz="1800" b="0" i="0" u="none" strike="noStrike" cap="none" dirty="0" err="1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Trabalho</a:t>
            </a:r>
            <a:r>
              <a:rPr lang="en-US" sz="1800" b="0" i="0" u="none" strike="noStrike" cap="none" dirty="0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 </a:t>
            </a:r>
            <a:r>
              <a:rPr lang="en-US" sz="1800" b="0" i="0" u="none" strike="noStrike" cap="none" dirty="0" err="1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Prático</a:t>
            </a:r>
            <a:endParaRPr lang="en-US" sz="1800" b="0" i="0" u="none" strike="noStrike" cap="none" dirty="0">
              <a:solidFill>
                <a:srgbClr val="94A3B8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SAD</a:t>
            </a:r>
            <a:r>
              <a:rPr lang="en-US" sz="1800" b="0" i="0" u="none" strike="noStrike" cap="none" dirty="0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 </a:t>
            </a:r>
            <a:endParaRPr dirty="0"/>
          </a:p>
        </p:txBody>
      </p:sp>
      <p:pic>
        <p:nvPicPr>
          <p:cNvPr id="87" name="Google Shape;87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0" y="679251"/>
            <a:ext cx="762000" cy="762000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13"/>
          <p:cNvSpPr/>
          <p:nvPr/>
        </p:nvSpPr>
        <p:spPr>
          <a:xfrm>
            <a:off x="6238875" y="4696569"/>
            <a:ext cx="9525" cy="157728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3"/>
          <p:cNvSpPr txBox="1"/>
          <p:nvPr/>
        </p:nvSpPr>
        <p:spPr>
          <a:xfrm>
            <a:off x="3571875" y="4848969"/>
            <a:ext cx="2286000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64748B"/>
                </a:solidFill>
                <a:latin typeface="Outfit"/>
                <a:ea typeface="Outfit"/>
                <a:cs typeface="Outfit"/>
                <a:sym typeface="Outfit"/>
              </a:rPr>
              <a:t>REALIZADO POR</a:t>
            </a:r>
            <a:endParaRPr/>
          </a:p>
        </p:txBody>
      </p:sp>
      <p:sp>
        <p:nvSpPr>
          <p:cNvPr id="90" name="Google Shape;90;p13"/>
          <p:cNvSpPr txBox="1"/>
          <p:nvPr/>
        </p:nvSpPr>
        <p:spPr>
          <a:xfrm>
            <a:off x="3571875" y="5283249"/>
            <a:ext cx="2286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Vasco Gonçalves | 1221510</a:t>
            </a:r>
            <a:endParaRPr/>
          </a:p>
        </p:txBody>
      </p:sp>
      <p:sp>
        <p:nvSpPr>
          <p:cNvPr id="91" name="Google Shape;91;p13"/>
          <p:cNvSpPr txBox="1"/>
          <p:nvPr/>
        </p:nvSpPr>
        <p:spPr>
          <a:xfrm>
            <a:off x="3571875" y="5778549"/>
            <a:ext cx="2286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Francisco Silva | 1241588</a:t>
            </a:r>
            <a:endParaRPr/>
          </a:p>
        </p:txBody>
      </p:sp>
      <p:sp>
        <p:nvSpPr>
          <p:cNvPr id="92" name="Google Shape;92;p13"/>
          <p:cNvSpPr txBox="1"/>
          <p:nvPr/>
        </p:nvSpPr>
        <p:spPr>
          <a:xfrm>
            <a:off x="6629400" y="4848969"/>
            <a:ext cx="1990725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64748B"/>
                </a:solidFill>
                <a:latin typeface="Outfit"/>
                <a:ea typeface="Outfit"/>
                <a:cs typeface="Outfit"/>
                <a:sym typeface="Outfit"/>
              </a:rPr>
              <a:t>DOCENTE</a:t>
            </a:r>
            <a:endParaRPr/>
          </a:p>
        </p:txBody>
      </p:sp>
      <p:sp>
        <p:nvSpPr>
          <p:cNvPr id="93" name="Google Shape;93;p13"/>
          <p:cNvSpPr txBox="1"/>
          <p:nvPr/>
        </p:nvSpPr>
        <p:spPr>
          <a:xfrm>
            <a:off x="6629400" y="5283249"/>
            <a:ext cx="199072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Nuno Fonseca</a:t>
            </a:r>
            <a:endParaRPr/>
          </a:p>
        </p:txBody>
      </p:sp>
      <p:sp>
        <p:nvSpPr>
          <p:cNvPr id="94" name="Google Shape;94;p13"/>
          <p:cNvSpPr txBox="1"/>
          <p:nvPr/>
        </p:nvSpPr>
        <p:spPr>
          <a:xfrm>
            <a:off x="6629400" y="5778549"/>
            <a:ext cx="1990725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64748B"/>
                </a:solidFill>
                <a:latin typeface="Outfit"/>
                <a:ea typeface="Outfit"/>
                <a:cs typeface="Outfit"/>
                <a:sym typeface="Outfit"/>
              </a:rPr>
              <a:t>CTESP Desenvolvimento Ágil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Google Shape;99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1797248"/>
            <a:ext cx="5229225" cy="408429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81750" y="1797248"/>
            <a:ext cx="5229225" cy="408429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772275" y="3776513"/>
            <a:ext cx="4448175" cy="1524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4"/>
          <p:cNvSpPr txBox="1"/>
          <p:nvPr/>
        </p:nvSpPr>
        <p:spPr>
          <a:xfrm>
            <a:off x="971550" y="2187773"/>
            <a:ext cx="4670583" cy="293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38BDF8"/>
                </a:solidFill>
                <a:latin typeface="Space Grotesk"/>
                <a:ea typeface="Space Grotesk"/>
                <a:cs typeface="Space Grotesk"/>
                <a:sym typeface="Space Grotesk"/>
              </a:rPr>
              <a:t>O Problema Atual</a:t>
            </a:r>
            <a:endParaRPr/>
          </a:p>
        </p:txBody>
      </p:sp>
      <p:sp>
        <p:nvSpPr>
          <p:cNvPr id="104" name="Google Shape;104;p14"/>
          <p:cNvSpPr txBox="1"/>
          <p:nvPr/>
        </p:nvSpPr>
        <p:spPr>
          <a:xfrm>
            <a:off x="971550" y="2671613"/>
            <a:ext cx="44481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O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método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tradicional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de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autenticação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baseado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apenas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em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passwords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tornou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-se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obsoleto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.</a:t>
            </a:r>
            <a:endParaRPr dirty="0"/>
          </a:p>
        </p:txBody>
      </p:sp>
      <p:sp>
        <p:nvSpPr>
          <p:cNvPr id="105" name="Google Shape;105;p14"/>
          <p:cNvSpPr txBox="1"/>
          <p:nvPr/>
        </p:nvSpPr>
        <p:spPr>
          <a:xfrm>
            <a:off x="971550" y="3471713"/>
            <a:ext cx="4448175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Com o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crescente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número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de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violações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de dados e a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sofisticação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dos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ataques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, as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senhas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estáticas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deixaram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de ser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uma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barreira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eficaz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para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proteger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a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nossa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identidade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digital.</a:t>
            </a:r>
            <a:endParaRPr dirty="0"/>
          </a:p>
        </p:txBody>
      </p:sp>
      <p:sp>
        <p:nvSpPr>
          <p:cNvPr id="106" name="Google Shape;106;p14"/>
          <p:cNvSpPr txBox="1"/>
          <p:nvPr/>
        </p:nvSpPr>
        <p:spPr>
          <a:xfrm>
            <a:off x="6772275" y="2187773"/>
            <a:ext cx="4670583" cy="293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38BDF8"/>
                </a:solidFill>
                <a:latin typeface="Space Grotesk"/>
                <a:ea typeface="Space Grotesk"/>
                <a:cs typeface="Space Grotesk"/>
                <a:sym typeface="Space Grotesk"/>
              </a:rPr>
              <a:t>A Solução OTP</a:t>
            </a:r>
            <a:endParaRPr/>
          </a:p>
        </p:txBody>
      </p:sp>
      <p:sp>
        <p:nvSpPr>
          <p:cNvPr id="107" name="Google Shape;107;p14"/>
          <p:cNvSpPr txBox="1"/>
          <p:nvPr/>
        </p:nvSpPr>
        <p:spPr>
          <a:xfrm>
            <a:off x="6772275" y="2671613"/>
            <a:ext cx="4448175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i="0" u="none" strike="noStrike" cap="none" dirty="0">
                <a:solidFill>
                  <a:srgbClr val="CBD5E1"/>
                </a:solidFill>
                <a:latin typeface="Outfit" panose="020B0604020202020204" charset="0"/>
                <a:ea typeface="Outfit"/>
                <a:cs typeface="Outfit"/>
                <a:sym typeface="Outfit"/>
              </a:rPr>
              <a:t>One-Time Password (OTP) 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é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uma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sequência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numérica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ou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alfanumérica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gerada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automaticamente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para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uso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único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.</a:t>
            </a:r>
            <a:endParaRPr dirty="0"/>
          </a:p>
        </p:txBody>
      </p:sp>
      <p:sp>
        <p:nvSpPr>
          <p:cNvPr id="108" name="Google Shape;108;p14"/>
          <p:cNvSpPr txBox="1"/>
          <p:nvPr/>
        </p:nvSpPr>
        <p:spPr>
          <a:xfrm>
            <a:off x="771525" y="581025"/>
            <a:ext cx="11381422" cy="4399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Introdução e Contexto</a:t>
            </a:r>
            <a:endParaRPr/>
          </a:p>
        </p:txBody>
      </p:sp>
      <p:sp>
        <p:nvSpPr>
          <p:cNvPr id="109" name="Google Shape;109;p14"/>
          <p:cNvSpPr/>
          <p:nvPr/>
        </p:nvSpPr>
        <p:spPr>
          <a:xfrm>
            <a:off x="581025" y="581025"/>
            <a:ext cx="47625" cy="43993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Google Shape;114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Google Shape;115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1750" y="1934467"/>
            <a:ext cx="5229225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5"/>
          <p:cNvSpPr txBox="1"/>
          <p:nvPr/>
        </p:nvSpPr>
        <p:spPr>
          <a:xfrm>
            <a:off x="581025" y="2416373"/>
            <a:ext cx="5490686" cy="293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38BDF8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Conceito Fundamental</a:t>
            </a:r>
            <a:endParaRPr/>
          </a:p>
        </p:txBody>
      </p:sp>
      <p:pic>
        <p:nvPicPr>
          <p:cNvPr id="117" name="Google Shape;117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91275" y="1943992"/>
            <a:ext cx="5210175" cy="379095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15"/>
          <p:cNvSpPr txBox="1"/>
          <p:nvPr/>
        </p:nvSpPr>
        <p:spPr>
          <a:xfrm>
            <a:off x="581025" y="2862113"/>
            <a:ext cx="522922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8575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Transitoriedade: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Válido apenas para uma sessão de login ou transação.</a:t>
            </a:r>
            <a:endParaRPr/>
          </a:p>
        </p:txBody>
      </p:sp>
      <p:sp>
        <p:nvSpPr>
          <p:cNvPr id="119" name="Google Shape;119;p15"/>
          <p:cNvSpPr txBox="1"/>
          <p:nvPr/>
        </p:nvSpPr>
        <p:spPr>
          <a:xfrm>
            <a:off x="581025" y="3662213"/>
            <a:ext cx="522922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8575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Janela Temporal: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Expira rapidamente, mitigando riscos de interceção passiva.</a:t>
            </a:r>
            <a:endParaRPr/>
          </a:p>
        </p:txBody>
      </p:sp>
      <p:sp>
        <p:nvSpPr>
          <p:cNvPr id="120" name="Google Shape;120;p15"/>
          <p:cNvSpPr txBox="1"/>
          <p:nvPr/>
        </p:nvSpPr>
        <p:spPr>
          <a:xfrm>
            <a:off x="581025" y="4462313"/>
            <a:ext cx="522922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8575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Imprevisibilidade: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Substitui a memória falível do utilizador pela aleatoriedade matemática.</a:t>
            </a:r>
            <a:endParaRPr/>
          </a:p>
        </p:txBody>
      </p:sp>
      <p:pic>
        <p:nvPicPr>
          <p:cNvPr id="121" name="Google Shape;121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81025" y="2914501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1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81025" y="3714601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15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81025" y="4514701"/>
            <a:ext cx="190500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15"/>
          <p:cNvSpPr txBox="1"/>
          <p:nvPr/>
        </p:nvSpPr>
        <p:spPr>
          <a:xfrm>
            <a:off x="771525" y="581025"/>
            <a:ext cx="11381422" cy="4399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Como Funciona o OTP?</a:t>
            </a:r>
            <a:endParaRPr/>
          </a:p>
        </p:txBody>
      </p:sp>
      <p:sp>
        <p:nvSpPr>
          <p:cNvPr id="125" name="Google Shape;125;p15"/>
          <p:cNvSpPr/>
          <p:nvPr/>
        </p:nvSpPr>
        <p:spPr>
          <a:xfrm>
            <a:off x="581025" y="581025"/>
            <a:ext cx="47625" cy="43993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040135"/>
            <a:ext cx="3486150" cy="359851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52925" y="2040135"/>
            <a:ext cx="3486150" cy="359851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4825" y="2040135"/>
            <a:ext cx="3486150" cy="3598515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16"/>
          <p:cNvSpPr txBox="1"/>
          <p:nvPr/>
        </p:nvSpPr>
        <p:spPr>
          <a:xfrm>
            <a:off x="876300" y="3002160"/>
            <a:ext cx="2580322" cy="293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38BDF8"/>
                </a:solidFill>
                <a:latin typeface="Space Grotesk"/>
                <a:ea typeface="Space Grotesk"/>
                <a:cs typeface="Space Grotesk"/>
                <a:sym typeface="Space Grotesk"/>
              </a:rPr>
              <a:t>Segredo Partilhado</a:t>
            </a:r>
            <a:endParaRPr/>
          </a:p>
        </p:txBody>
      </p:sp>
      <p:sp>
        <p:nvSpPr>
          <p:cNvPr id="135" name="Google Shape;135;p16"/>
          <p:cNvSpPr txBox="1"/>
          <p:nvPr/>
        </p:nvSpPr>
        <p:spPr>
          <a:xfrm>
            <a:off x="876300" y="3628876"/>
            <a:ext cx="2895600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Uma "chave-mestra" invisível (Shared Secret) que reside simultaneamente no servidor e no dispositivo do utilizador. É a base de confiança do sistema.</a:t>
            </a:r>
            <a:endParaRPr/>
          </a:p>
        </p:txBody>
      </p:sp>
      <p:sp>
        <p:nvSpPr>
          <p:cNvPr id="136" name="Google Shape;136;p16"/>
          <p:cNvSpPr txBox="1"/>
          <p:nvPr/>
        </p:nvSpPr>
        <p:spPr>
          <a:xfrm>
            <a:off x="4648200" y="3002160"/>
            <a:ext cx="1570196" cy="293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38BDF8"/>
                </a:solidFill>
                <a:latin typeface="Space Grotesk"/>
                <a:ea typeface="Space Grotesk"/>
                <a:cs typeface="Space Grotesk"/>
                <a:sym typeface="Space Grotesk"/>
              </a:rPr>
              <a:t>Fator Móvel</a:t>
            </a:r>
            <a:endParaRPr/>
          </a:p>
        </p:txBody>
      </p:sp>
      <p:sp>
        <p:nvSpPr>
          <p:cNvPr id="137" name="Google Shape;137;p16"/>
          <p:cNvSpPr txBox="1"/>
          <p:nvPr/>
        </p:nvSpPr>
        <p:spPr>
          <a:xfrm>
            <a:off x="4648200" y="3628876"/>
            <a:ext cx="2895600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Um elemento dinâmico que muda constantemente. Pode ser um </a:t>
            </a:r>
            <a:r>
              <a:rPr lang="en-US" sz="1500" b="1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contador de eventos</a:t>
            </a: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(sequencial) ou o </a:t>
            </a:r>
            <a:r>
              <a:rPr lang="en-US" sz="1500" b="1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tempo atual</a:t>
            </a: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do relógio.</a:t>
            </a:r>
            <a:endParaRPr/>
          </a:p>
        </p:txBody>
      </p:sp>
      <p:sp>
        <p:nvSpPr>
          <p:cNvPr id="138" name="Google Shape;138;p16"/>
          <p:cNvSpPr txBox="1"/>
          <p:nvPr/>
        </p:nvSpPr>
        <p:spPr>
          <a:xfrm>
            <a:off x="8420100" y="3002160"/>
            <a:ext cx="2160270" cy="293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38BDF8"/>
                </a:solidFill>
                <a:latin typeface="Space Grotesk"/>
                <a:ea typeface="Space Grotesk"/>
                <a:cs typeface="Space Grotesk"/>
                <a:sym typeface="Space Grotesk"/>
              </a:rPr>
              <a:t>Hashing (HMAC)</a:t>
            </a:r>
            <a:endParaRPr/>
          </a:p>
        </p:txBody>
      </p:sp>
      <p:sp>
        <p:nvSpPr>
          <p:cNvPr id="139" name="Google Shape;139;p16"/>
          <p:cNvSpPr txBox="1"/>
          <p:nvPr/>
        </p:nvSpPr>
        <p:spPr>
          <a:xfrm>
            <a:off x="8420100" y="3628876"/>
            <a:ext cx="2895600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Algoritmos criptográficos (SHA-256/512) misturam o segredo com o fator móvel para gerar o código final único e sincronizado.</a:t>
            </a:r>
            <a:endParaRPr/>
          </a:p>
        </p:txBody>
      </p:sp>
      <p:pic>
        <p:nvPicPr>
          <p:cNvPr id="140" name="Google Shape;140;p16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76300" y="2383035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16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648200" y="2383035"/>
            <a:ext cx="28575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16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420100" y="2383035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16"/>
          <p:cNvSpPr txBox="1"/>
          <p:nvPr/>
        </p:nvSpPr>
        <p:spPr>
          <a:xfrm>
            <a:off x="771525" y="581025"/>
            <a:ext cx="11381422" cy="4399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Fundamentos Teóricos</a:t>
            </a:r>
            <a:endParaRPr/>
          </a:p>
        </p:txBody>
      </p:sp>
      <p:sp>
        <p:nvSpPr>
          <p:cNvPr id="144" name="Google Shape;144;p16"/>
          <p:cNvSpPr/>
          <p:nvPr/>
        </p:nvSpPr>
        <p:spPr>
          <a:xfrm>
            <a:off x="581025" y="581025"/>
            <a:ext cx="47625" cy="43993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9" name="Google Shape;149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0" name="Google Shape;150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023020"/>
            <a:ext cx="5229225" cy="36327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1" name="Google Shape;151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81750" y="2023020"/>
            <a:ext cx="5229225" cy="3632745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17"/>
          <p:cNvSpPr txBox="1"/>
          <p:nvPr/>
        </p:nvSpPr>
        <p:spPr>
          <a:xfrm>
            <a:off x="971550" y="2442120"/>
            <a:ext cx="4670583" cy="293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38BDF8"/>
                </a:solidFill>
                <a:latin typeface="Space Grotesk"/>
                <a:ea typeface="Space Grotesk"/>
                <a:cs typeface="Space Grotesk"/>
                <a:sym typeface="Space Grotesk"/>
              </a:rPr>
              <a:t>HOTP (RFC 4226)</a:t>
            </a:r>
            <a:endParaRPr/>
          </a:p>
        </p:txBody>
      </p:sp>
      <p:sp>
        <p:nvSpPr>
          <p:cNvPr id="153" name="Google Shape;153;p17"/>
          <p:cNvSpPr txBox="1"/>
          <p:nvPr/>
        </p:nvSpPr>
        <p:spPr>
          <a:xfrm>
            <a:off x="971550" y="2887860"/>
            <a:ext cx="4448175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HMAC-BASED ONE-TIME PASSWORD</a:t>
            </a:r>
            <a:endParaRPr/>
          </a:p>
        </p:txBody>
      </p:sp>
      <p:sp>
        <p:nvSpPr>
          <p:cNvPr id="154" name="Google Shape;154;p17"/>
          <p:cNvSpPr txBox="1"/>
          <p:nvPr/>
        </p:nvSpPr>
        <p:spPr>
          <a:xfrm>
            <a:off x="6772275" y="2442120"/>
            <a:ext cx="4670583" cy="293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38BDF8"/>
                </a:solidFill>
                <a:latin typeface="Space Grotesk"/>
                <a:ea typeface="Space Grotesk"/>
                <a:cs typeface="Space Grotesk"/>
                <a:sym typeface="Space Grotesk"/>
              </a:rPr>
              <a:t>TOTP (RFC 6238)</a:t>
            </a:r>
            <a:endParaRPr/>
          </a:p>
        </p:txBody>
      </p:sp>
      <p:sp>
        <p:nvSpPr>
          <p:cNvPr id="155" name="Google Shape;155;p17"/>
          <p:cNvSpPr txBox="1"/>
          <p:nvPr/>
        </p:nvSpPr>
        <p:spPr>
          <a:xfrm>
            <a:off x="6772275" y="2887860"/>
            <a:ext cx="4448175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TIME-BASED ONE-TIME PASSWORD</a:t>
            </a:r>
            <a:endParaRPr/>
          </a:p>
        </p:txBody>
      </p:sp>
      <p:sp>
        <p:nvSpPr>
          <p:cNvPr id="156" name="Google Shape;156;p17"/>
          <p:cNvSpPr txBox="1"/>
          <p:nvPr/>
        </p:nvSpPr>
        <p:spPr>
          <a:xfrm>
            <a:off x="1095375" y="3284041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•</a:t>
            </a:r>
            <a:endParaRPr/>
          </a:p>
        </p:txBody>
      </p:sp>
      <p:sp>
        <p:nvSpPr>
          <p:cNvPr id="157" name="Google Shape;157;p17"/>
          <p:cNvSpPr txBox="1"/>
          <p:nvPr/>
        </p:nvSpPr>
        <p:spPr>
          <a:xfrm>
            <a:off x="1162050" y="3284041"/>
            <a:ext cx="42576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Baseado num </a:t>
            </a:r>
            <a:r>
              <a:rPr lang="en-US" sz="1500" b="1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contador de eventos</a:t>
            </a: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(+1 a cada pedido).</a:t>
            </a:r>
            <a:endParaRPr/>
          </a:p>
        </p:txBody>
      </p:sp>
      <p:sp>
        <p:nvSpPr>
          <p:cNvPr id="158" name="Google Shape;158;p17"/>
          <p:cNvSpPr txBox="1"/>
          <p:nvPr/>
        </p:nvSpPr>
        <p:spPr>
          <a:xfrm>
            <a:off x="1095375" y="3893641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•</a:t>
            </a:r>
            <a:endParaRPr/>
          </a:p>
        </p:txBody>
      </p:sp>
      <p:sp>
        <p:nvSpPr>
          <p:cNvPr id="159" name="Google Shape;159;p17"/>
          <p:cNvSpPr txBox="1"/>
          <p:nvPr/>
        </p:nvSpPr>
        <p:spPr>
          <a:xfrm>
            <a:off x="1162050" y="3893641"/>
            <a:ext cx="42576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Requer sincronização perfeita entre cliente e servidor.</a:t>
            </a:r>
            <a:endParaRPr/>
          </a:p>
        </p:txBody>
      </p:sp>
      <p:sp>
        <p:nvSpPr>
          <p:cNvPr id="160" name="Google Shape;160;p17"/>
          <p:cNvSpPr txBox="1"/>
          <p:nvPr/>
        </p:nvSpPr>
        <p:spPr>
          <a:xfrm>
            <a:off x="1095375" y="4503241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•</a:t>
            </a:r>
            <a:endParaRPr/>
          </a:p>
        </p:txBody>
      </p:sp>
      <p:sp>
        <p:nvSpPr>
          <p:cNvPr id="161" name="Google Shape;161;p17"/>
          <p:cNvSpPr txBox="1"/>
          <p:nvPr/>
        </p:nvSpPr>
        <p:spPr>
          <a:xfrm>
            <a:off x="1162050" y="4503241"/>
            <a:ext cx="42576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Usa janela de "look-ahead" para evitar dessincronização.</a:t>
            </a:r>
            <a:endParaRPr/>
          </a:p>
        </p:txBody>
      </p:sp>
      <p:sp>
        <p:nvSpPr>
          <p:cNvPr id="162" name="Google Shape;162;p17"/>
          <p:cNvSpPr txBox="1"/>
          <p:nvPr/>
        </p:nvSpPr>
        <p:spPr>
          <a:xfrm>
            <a:off x="6896100" y="3284041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•</a:t>
            </a:r>
            <a:endParaRPr/>
          </a:p>
        </p:txBody>
      </p:sp>
      <p:sp>
        <p:nvSpPr>
          <p:cNvPr id="163" name="Google Shape;163;p17"/>
          <p:cNvSpPr txBox="1"/>
          <p:nvPr/>
        </p:nvSpPr>
        <p:spPr>
          <a:xfrm>
            <a:off x="6962775" y="3284041"/>
            <a:ext cx="42576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Baseado no </a:t>
            </a:r>
            <a:r>
              <a:rPr lang="en-US" sz="1500" b="1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tempo atual</a:t>
            </a: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.</a:t>
            </a:r>
            <a:endParaRPr/>
          </a:p>
        </p:txBody>
      </p:sp>
      <p:sp>
        <p:nvSpPr>
          <p:cNvPr id="164" name="Google Shape;164;p17"/>
          <p:cNvSpPr txBox="1"/>
          <p:nvPr/>
        </p:nvSpPr>
        <p:spPr>
          <a:xfrm>
            <a:off x="6896100" y="3588841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•</a:t>
            </a:r>
            <a:endParaRPr/>
          </a:p>
        </p:txBody>
      </p:sp>
      <p:sp>
        <p:nvSpPr>
          <p:cNvPr id="165" name="Google Shape;165;p17"/>
          <p:cNvSpPr txBox="1"/>
          <p:nvPr/>
        </p:nvSpPr>
        <p:spPr>
          <a:xfrm>
            <a:off x="6962775" y="3588841"/>
            <a:ext cx="42576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Padrão da indústria (Google/Microsoft Auth).</a:t>
            </a:r>
            <a:endParaRPr/>
          </a:p>
        </p:txBody>
      </p:sp>
      <p:sp>
        <p:nvSpPr>
          <p:cNvPr id="166" name="Google Shape;166;p17"/>
          <p:cNvSpPr txBox="1"/>
          <p:nvPr/>
        </p:nvSpPr>
        <p:spPr>
          <a:xfrm>
            <a:off x="6896100" y="3893641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•</a:t>
            </a:r>
            <a:endParaRPr/>
          </a:p>
        </p:txBody>
      </p:sp>
      <p:sp>
        <p:nvSpPr>
          <p:cNvPr id="167" name="Google Shape;167;p17"/>
          <p:cNvSpPr txBox="1"/>
          <p:nvPr/>
        </p:nvSpPr>
        <p:spPr>
          <a:xfrm>
            <a:off x="6962775" y="3893641"/>
            <a:ext cx="42576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Não requer interação do utilizador para avançar.</a:t>
            </a:r>
            <a:endParaRPr/>
          </a:p>
        </p:txBody>
      </p:sp>
      <p:sp>
        <p:nvSpPr>
          <p:cNvPr id="168" name="Google Shape;168;p17"/>
          <p:cNvSpPr txBox="1"/>
          <p:nvPr/>
        </p:nvSpPr>
        <p:spPr>
          <a:xfrm>
            <a:off x="6896100" y="4198441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•</a:t>
            </a:r>
            <a:endParaRPr/>
          </a:p>
        </p:txBody>
      </p:sp>
      <p:sp>
        <p:nvSpPr>
          <p:cNvPr id="169" name="Google Shape;169;p17"/>
          <p:cNvSpPr txBox="1"/>
          <p:nvPr/>
        </p:nvSpPr>
        <p:spPr>
          <a:xfrm>
            <a:off x="6962775" y="4198441"/>
            <a:ext cx="42576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Depende da precisão do relógio.</a:t>
            </a:r>
            <a:endParaRPr/>
          </a:p>
        </p:txBody>
      </p:sp>
      <p:sp>
        <p:nvSpPr>
          <p:cNvPr id="170" name="Google Shape;170;p17"/>
          <p:cNvSpPr txBox="1"/>
          <p:nvPr/>
        </p:nvSpPr>
        <p:spPr>
          <a:xfrm>
            <a:off x="771525" y="581025"/>
            <a:ext cx="11381422" cy="4399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Algoritmos: HOTP vs. TOTP</a:t>
            </a:r>
            <a:endParaRPr/>
          </a:p>
        </p:txBody>
      </p:sp>
      <p:sp>
        <p:nvSpPr>
          <p:cNvPr id="171" name="Google Shape;171;p17"/>
          <p:cNvSpPr/>
          <p:nvPr/>
        </p:nvSpPr>
        <p:spPr>
          <a:xfrm>
            <a:off x="581025" y="581025"/>
            <a:ext cx="47625" cy="43993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6" name="Google Shape;176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7" name="Google Shape;177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1750" y="3055739"/>
            <a:ext cx="5229225" cy="1218753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18"/>
          <p:cNvSpPr txBox="1"/>
          <p:nvPr/>
        </p:nvSpPr>
        <p:spPr>
          <a:xfrm>
            <a:off x="581025" y="2416373"/>
            <a:ext cx="5490686" cy="293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38BDF8"/>
                </a:solidFill>
                <a:latin typeface="Space Grotesk"/>
                <a:ea typeface="Space Grotesk"/>
                <a:cs typeface="Space Grotesk"/>
                <a:sym typeface="Space Grotesk"/>
              </a:rPr>
              <a:t>A Lógica Temporal</a:t>
            </a:r>
            <a:endParaRPr/>
          </a:p>
        </p:txBody>
      </p:sp>
      <p:sp>
        <p:nvSpPr>
          <p:cNvPr id="179" name="Google Shape;179;p18"/>
          <p:cNvSpPr txBox="1"/>
          <p:nvPr/>
        </p:nvSpPr>
        <p:spPr>
          <a:xfrm>
            <a:off x="581025" y="2900213"/>
            <a:ext cx="522922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O TOTP segmenta o tempo em janelas fixas (habitualmente 30 segundos). O valor de entrada muda automaticamente a cada meio minuto.</a:t>
            </a:r>
            <a:endParaRPr/>
          </a:p>
        </p:txBody>
      </p:sp>
      <p:sp>
        <p:nvSpPr>
          <p:cNvPr id="180" name="Google Shape;180;p18"/>
          <p:cNvSpPr txBox="1"/>
          <p:nvPr/>
        </p:nvSpPr>
        <p:spPr>
          <a:xfrm>
            <a:off x="581025" y="4005113"/>
            <a:ext cx="522922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A robustez depende de dois pilares:</a:t>
            </a:r>
            <a:endParaRPr/>
          </a:p>
        </p:txBody>
      </p:sp>
      <p:sp>
        <p:nvSpPr>
          <p:cNvPr id="181" name="Google Shape;181;p18"/>
          <p:cNvSpPr txBox="1"/>
          <p:nvPr/>
        </p:nvSpPr>
        <p:spPr>
          <a:xfrm>
            <a:off x="6381750" y="4417367"/>
            <a:ext cx="5229225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Onde </a:t>
            </a:r>
            <a:r>
              <a:rPr lang="en-US" sz="1200" b="1" i="0" u="none" strike="noStrike" cap="none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X</a:t>
            </a:r>
            <a:r>
              <a:rPr lang="en-US" sz="1200" b="0" i="0" u="none" strike="noStrike" cap="none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 é o intervalo de tempo (ex: 30s) e </a:t>
            </a:r>
            <a:r>
              <a:rPr lang="en-US" sz="1200" b="1" i="0" u="none" strike="noStrike" cap="none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T0</a:t>
            </a:r>
            <a:r>
              <a:rPr lang="en-US" sz="1200" b="0" i="0" u="none" strike="noStrike" cap="none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 é o tempo inicial.</a:t>
            </a:r>
            <a:endParaRPr/>
          </a:p>
        </p:txBody>
      </p:sp>
      <p:sp>
        <p:nvSpPr>
          <p:cNvPr id="182" name="Google Shape;182;p18"/>
          <p:cNvSpPr txBox="1"/>
          <p:nvPr/>
        </p:nvSpPr>
        <p:spPr>
          <a:xfrm>
            <a:off x="838200" y="4500413"/>
            <a:ext cx="12382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1.</a:t>
            </a:r>
            <a:endParaRPr/>
          </a:p>
        </p:txBody>
      </p:sp>
      <p:sp>
        <p:nvSpPr>
          <p:cNvPr id="183" name="Google Shape;183;p18"/>
          <p:cNvSpPr txBox="1"/>
          <p:nvPr/>
        </p:nvSpPr>
        <p:spPr>
          <a:xfrm>
            <a:off x="962025" y="4500413"/>
            <a:ext cx="484822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382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Sigilo da chave partilhada (K).</a:t>
            </a:r>
            <a:endParaRPr/>
          </a:p>
        </p:txBody>
      </p:sp>
      <p:sp>
        <p:nvSpPr>
          <p:cNvPr id="184" name="Google Shape;184;p18"/>
          <p:cNvSpPr txBox="1"/>
          <p:nvPr/>
        </p:nvSpPr>
        <p:spPr>
          <a:xfrm>
            <a:off x="800100" y="4805213"/>
            <a:ext cx="16192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2.</a:t>
            </a:r>
            <a:endParaRPr/>
          </a:p>
        </p:txBody>
      </p:sp>
      <p:sp>
        <p:nvSpPr>
          <p:cNvPr id="185" name="Google Shape;185;p18"/>
          <p:cNvSpPr txBox="1"/>
          <p:nvPr/>
        </p:nvSpPr>
        <p:spPr>
          <a:xfrm>
            <a:off x="962025" y="4805213"/>
            <a:ext cx="484822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192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Sincronização do relógio (T).</a:t>
            </a:r>
            <a:endParaRPr/>
          </a:p>
        </p:txBody>
      </p:sp>
      <p:pic>
        <p:nvPicPr>
          <p:cNvPr id="186" name="Google Shape;186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124700" y="3351014"/>
            <a:ext cx="3743325" cy="628203"/>
          </a:xfrm>
          <a:prstGeom prst="rect">
            <a:avLst/>
          </a:prstGeom>
          <a:noFill/>
          <a:ln>
            <a:noFill/>
          </a:ln>
        </p:spPr>
      </p:pic>
      <p:sp>
        <p:nvSpPr>
          <p:cNvPr id="187" name="Google Shape;187;p18"/>
          <p:cNvSpPr txBox="1"/>
          <p:nvPr/>
        </p:nvSpPr>
        <p:spPr>
          <a:xfrm>
            <a:off x="771525" y="581025"/>
            <a:ext cx="11381422" cy="4399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A Matemática do TOTP</a:t>
            </a:r>
            <a:endParaRPr/>
          </a:p>
        </p:txBody>
      </p:sp>
      <p:sp>
        <p:nvSpPr>
          <p:cNvPr id="188" name="Google Shape;188;p18"/>
          <p:cNvSpPr/>
          <p:nvPr/>
        </p:nvSpPr>
        <p:spPr>
          <a:xfrm>
            <a:off x="581025" y="581025"/>
            <a:ext cx="47625" cy="43993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002035"/>
            <a:ext cx="5372100" cy="367471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5" name="Google Shape;195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38875" y="2002035"/>
            <a:ext cx="5372100" cy="3674715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19"/>
          <p:cNvSpPr txBox="1"/>
          <p:nvPr/>
        </p:nvSpPr>
        <p:spPr>
          <a:xfrm>
            <a:off x="876300" y="2964060"/>
            <a:ext cx="2670333" cy="293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38BDF8"/>
                </a:solidFill>
                <a:latin typeface="Space Grotesk"/>
                <a:ea typeface="Space Grotesk"/>
                <a:cs typeface="Space Grotesk"/>
                <a:sym typeface="Space Grotesk"/>
              </a:rPr>
              <a:t>Tokens de Hardware</a:t>
            </a:r>
            <a:endParaRPr/>
          </a:p>
        </p:txBody>
      </p:sp>
      <p:sp>
        <p:nvSpPr>
          <p:cNvPr id="197" name="Google Shape;197;p19"/>
          <p:cNvSpPr txBox="1"/>
          <p:nvPr/>
        </p:nvSpPr>
        <p:spPr>
          <a:xfrm>
            <a:off x="876300" y="3590776"/>
            <a:ext cx="47815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Vantagens: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Isolados da internet (air-gapped), imunes a malware.</a:t>
            </a:r>
            <a:endParaRPr/>
          </a:p>
        </p:txBody>
      </p:sp>
      <p:sp>
        <p:nvSpPr>
          <p:cNvPr id="198" name="Google Shape;198;p19"/>
          <p:cNvSpPr txBox="1"/>
          <p:nvPr/>
        </p:nvSpPr>
        <p:spPr>
          <a:xfrm>
            <a:off x="876300" y="4581376"/>
            <a:ext cx="44100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Desvantagens: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Custo logístico, risco de perda física.</a:t>
            </a:r>
            <a:endParaRPr/>
          </a:p>
        </p:txBody>
      </p:sp>
      <p:sp>
        <p:nvSpPr>
          <p:cNvPr id="199" name="Google Shape;199;p19"/>
          <p:cNvSpPr txBox="1"/>
          <p:nvPr/>
        </p:nvSpPr>
        <p:spPr>
          <a:xfrm>
            <a:off x="6534150" y="2964060"/>
            <a:ext cx="590073" cy="293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38BDF8"/>
                </a:solidFill>
                <a:latin typeface="Space Grotesk"/>
                <a:ea typeface="Space Grotesk"/>
                <a:cs typeface="Space Grotesk"/>
                <a:sym typeface="Space Grotesk"/>
              </a:rPr>
              <a:t>SMS</a:t>
            </a:r>
            <a:endParaRPr/>
          </a:p>
        </p:txBody>
      </p:sp>
      <p:sp>
        <p:nvSpPr>
          <p:cNvPr id="200" name="Google Shape;200;p19"/>
          <p:cNvSpPr txBox="1"/>
          <p:nvPr/>
        </p:nvSpPr>
        <p:spPr>
          <a:xfrm>
            <a:off x="6534150" y="3590776"/>
            <a:ext cx="47815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Vantagens: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Ubíquo, funciona em qualquer telemóvel sem apps.</a:t>
            </a:r>
            <a:endParaRPr/>
          </a:p>
        </p:txBody>
      </p:sp>
      <p:sp>
        <p:nvSpPr>
          <p:cNvPr id="201" name="Google Shape;201;p19"/>
          <p:cNvSpPr txBox="1"/>
          <p:nvPr/>
        </p:nvSpPr>
        <p:spPr>
          <a:xfrm>
            <a:off x="6534150" y="4581376"/>
            <a:ext cx="47815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Desvantagens: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</a:t>
            </a:r>
            <a:r>
              <a:rPr lang="en-US" sz="1500" b="0" i="0" u="none" strike="noStrike" cap="none">
                <a:solidFill>
                  <a:srgbClr val="EF4444"/>
                </a:solidFill>
                <a:latin typeface="Outfit"/>
                <a:ea typeface="Outfit"/>
                <a:cs typeface="Outfit"/>
                <a:sym typeface="Outfit"/>
              </a:rPr>
              <a:t>Extremamente vulnerável</a:t>
            </a: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(SIM Swapping), dependente da rede móvel.</a:t>
            </a:r>
            <a:endParaRPr/>
          </a:p>
        </p:txBody>
      </p:sp>
      <p:pic>
        <p:nvPicPr>
          <p:cNvPr id="202" name="Google Shape;202;p19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76300" y="2344935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19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534150" y="2344935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4" name="Google Shape;204;p19"/>
          <p:cNvSpPr txBox="1"/>
          <p:nvPr/>
        </p:nvSpPr>
        <p:spPr>
          <a:xfrm>
            <a:off x="771525" y="581025"/>
            <a:ext cx="11381422" cy="4399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Métodos de Entrega: Hardware e SMS</a:t>
            </a:r>
            <a:endParaRPr/>
          </a:p>
        </p:txBody>
      </p:sp>
      <p:sp>
        <p:nvSpPr>
          <p:cNvPr id="205" name="Google Shape;205;p19"/>
          <p:cNvSpPr/>
          <p:nvPr/>
        </p:nvSpPr>
        <p:spPr>
          <a:xfrm>
            <a:off x="581025" y="581025"/>
            <a:ext cx="47625" cy="43993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1" name="Google Shape;211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1859160"/>
            <a:ext cx="5372100" cy="396046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38875" y="1859160"/>
            <a:ext cx="5372100" cy="3960465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20"/>
          <p:cNvSpPr txBox="1"/>
          <p:nvPr/>
        </p:nvSpPr>
        <p:spPr>
          <a:xfrm>
            <a:off x="876300" y="2821185"/>
            <a:ext cx="2560320" cy="293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38BDF8"/>
                </a:solidFill>
                <a:latin typeface="Space Grotesk"/>
                <a:ea typeface="Space Grotesk"/>
                <a:cs typeface="Space Grotesk"/>
                <a:sym typeface="Space Grotesk"/>
              </a:rPr>
              <a:t>Soft Tokens (Apps)</a:t>
            </a:r>
            <a:endParaRPr/>
          </a:p>
        </p:txBody>
      </p:sp>
      <p:sp>
        <p:nvSpPr>
          <p:cNvPr id="214" name="Google Shape;214;p20"/>
          <p:cNvSpPr txBox="1"/>
          <p:nvPr/>
        </p:nvSpPr>
        <p:spPr>
          <a:xfrm>
            <a:off x="876300" y="3447901"/>
            <a:ext cx="21621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Ex: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Google Authenticator.</a:t>
            </a:r>
            <a:endParaRPr/>
          </a:p>
        </p:txBody>
      </p:sp>
      <p:sp>
        <p:nvSpPr>
          <p:cNvPr id="215" name="Google Shape;215;p20"/>
          <p:cNvSpPr txBox="1"/>
          <p:nvPr/>
        </p:nvSpPr>
        <p:spPr>
          <a:xfrm>
            <a:off x="876300" y="4133701"/>
            <a:ext cx="47815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Segredo trocado via QR Code. Geração local (offline) usando TOTP.</a:t>
            </a:r>
            <a:endParaRPr/>
          </a:p>
        </p:txBody>
      </p:sp>
      <p:sp>
        <p:nvSpPr>
          <p:cNvPr id="216" name="Google Shape;216;p20"/>
          <p:cNvSpPr txBox="1"/>
          <p:nvPr/>
        </p:nvSpPr>
        <p:spPr>
          <a:xfrm>
            <a:off x="876300" y="5029051"/>
            <a:ext cx="15144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22C55E"/>
                </a:solidFill>
                <a:latin typeface="Outfit"/>
                <a:ea typeface="Outfit"/>
                <a:cs typeface="Outfit"/>
                <a:sym typeface="Outfit"/>
              </a:rPr>
              <a:t>Mais seguro que SMS.</a:t>
            </a:r>
            <a:endParaRPr/>
          </a:p>
        </p:txBody>
      </p:sp>
      <p:sp>
        <p:nvSpPr>
          <p:cNvPr id="217" name="Google Shape;217;p20"/>
          <p:cNvSpPr txBox="1"/>
          <p:nvPr/>
        </p:nvSpPr>
        <p:spPr>
          <a:xfrm>
            <a:off x="6534150" y="2821185"/>
            <a:ext cx="2480310" cy="293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38BDF8"/>
                </a:solidFill>
                <a:latin typeface="Space Grotesk"/>
                <a:ea typeface="Space Grotesk"/>
                <a:cs typeface="Space Grotesk"/>
                <a:sym typeface="Space Grotesk"/>
              </a:rPr>
              <a:t>Push Notifications</a:t>
            </a:r>
            <a:endParaRPr/>
          </a:p>
        </p:txBody>
      </p:sp>
      <p:sp>
        <p:nvSpPr>
          <p:cNvPr id="218" name="Google Shape;218;p20"/>
          <p:cNvSpPr txBox="1"/>
          <p:nvPr/>
        </p:nvSpPr>
        <p:spPr>
          <a:xfrm>
            <a:off x="6534150" y="3447901"/>
            <a:ext cx="47815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Pedido de aprovação enviado diretamente para o dispositivo.</a:t>
            </a:r>
            <a:endParaRPr/>
          </a:p>
        </p:txBody>
      </p:sp>
      <p:sp>
        <p:nvSpPr>
          <p:cNvPr id="219" name="Google Shape;219;p20"/>
          <p:cNvSpPr txBox="1"/>
          <p:nvPr/>
        </p:nvSpPr>
        <p:spPr>
          <a:xfrm>
            <a:off x="6534150" y="4438501"/>
            <a:ext cx="47815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Excelente experiência de utilizador (UX), mas requer internet e dispositivo seguro.</a:t>
            </a:r>
            <a:endParaRPr/>
          </a:p>
        </p:txBody>
      </p:sp>
      <p:pic>
        <p:nvPicPr>
          <p:cNvPr id="220" name="Google Shape;220;p2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76300" y="2202060"/>
            <a:ext cx="28575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1" name="Google Shape;221;p20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534150" y="2202060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0"/>
          <p:cNvSpPr txBox="1"/>
          <p:nvPr/>
        </p:nvSpPr>
        <p:spPr>
          <a:xfrm>
            <a:off x="771525" y="581025"/>
            <a:ext cx="11381422" cy="4399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Métodos de Entrega: Apps e Notificações</a:t>
            </a:r>
            <a:endParaRPr/>
          </a:p>
        </p:txBody>
      </p:sp>
      <p:sp>
        <p:nvSpPr>
          <p:cNvPr id="223" name="Google Shape;223;p20"/>
          <p:cNvSpPr/>
          <p:nvPr/>
        </p:nvSpPr>
        <p:spPr>
          <a:xfrm>
            <a:off x="581025" y="581025"/>
            <a:ext cx="47625" cy="43993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8" name="Google Shape;228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21"/>
          <p:cNvSpPr txBox="1"/>
          <p:nvPr/>
        </p:nvSpPr>
        <p:spPr>
          <a:xfrm>
            <a:off x="581025" y="771525"/>
            <a:ext cx="5190648" cy="4399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Vulnerabilidades Críticas</a:t>
            </a:r>
            <a:endParaRPr/>
          </a:p>
        </p:txBody>
      </p:sp>
      <p:pic>
        <p:nvPicPr>
          <p:cNvPr id="230" name="Google Shape;230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6000" y="9525"/>
            <a:ext cx="6086475" cy="6838950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21"/>
          <p:cNvSpPr txBox="1"/>
          <p:nvPr/>
        </p:nvSpPr>
        <p:spPr>
          <a:xfrm>
            <a:off x="581025" y="1917352"/>
            <a:ext cx="5190648" cy="293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38125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EF4444"/>
                </a:solidFill>
                <a:latin typeface="Space Grotesk"/>
                <a:ea typeface="Space Grotesk"/>
                <a:cs typeface="Space Grotesk"/>
                <a:sym typeface="Space Grotesk"/>
              </a:rPr>
              <a:t>Engenharia Social &amp; Phishing</a:t>
            </a:r>
            <a:endParaRPr/>
          </a:p>
        </p:txBody>
      </p:sp>
      <p:sp>
        <p:nvSpPr>
          <p:cNvPr id="232" name="Google Shape;232;p21"/>
          <p:cNvSpPr txBox="1"/>
          <p:nvPr/>
        </p:nvSpPr>
        <p:spPr>
          <a:xfrm>
            <a:off x="581025" y="2401192"/>
            <a:ext cx="494347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Ferramentas como </a:t>
            </a:r>
            <a:r>
              <a:rPr lang="en-US" sz="1500" b="0" i="1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Evilginx2</a:t>
            </a: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permitem criar páginas falsas que intercetam o código OTP em tempo real, permitindo o roubo de sessão imediato.</a:t>
            </a:r>
            <a:endParaRPr/>
          </a:p>
        </p:txBody>
      </p:sp>
      <p:sp>
        <p:nvSpPr>
          <p:cNvPr id="233" name="Google Shape;233;p21"/>
          <p:cNvSpPr txBox="1"/>
          <p:nvPr/>
        </p:nvSpPr>
        <p:spPr>
          <a:xfrm>
            <a:off x="581025" y="3791842"/>
            <a:ext cx="5190648" cy="293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00025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EF4444"/>
                </a:solidFill>
                <a:latin typeface="Space Grotesk"/>
                <a:ea typeface="Space Grotesk"/>
                <a:cs typeface="Space Grotesk"/>
                <a:sym typeface="Space Grotesk"/>
              </a:rPr>
              <a:t>SIM Swapping</a:t>
            </a:r>
            <a:endParaRPr/>
          </a:p>
        </p:txBody>
      </p:sp>
      <p:sp>
        <p:nvSpPr>
          <p:cNvPr id="234" name="Google Shape;234;p21"/>
          <p:cNvSpPr txBox="1"/>
          <p:nvPr/>
        </p:nvSpPr>
        <p:spPr>
          <a:xfrm>
            <a:off x="581025" y="4275683"/>
            <a:ext cx="494347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O atacante transfere o número da vítima para um novo cartão SIM, recebendo todos os SMS bancários e de recuperação de conta.</a:t>
            </a:r>
            <a:endParaRPr/>
          </a:p>
        </p:txBody>
      </p:sp>
      <p:pic>
        <p:nvPicPr>
          <p:cNvPr id="235" name="Google Shape;235;p21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81025" y="1926877"/>
            <a:ext cx="238125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6" name="Google Shape;236;p21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81025" y="3801367"/>
            <a:ext cx="200025" cy="266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1" name="Google Shape;241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2" name="Google Shape;242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102048"/>
            <a:ext cx="5229225" cy="347469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Google Shape;243;p2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81750" y="2102048"/>
            <a:ext cx="5229225" cy="3474690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22"/>
          <p:cNvSpPr txBox="1"/>
          <p:nvPr/>
        </p:nvSpPr>
        <p:spPr>
          <a:xfrm>
            <a:off x="971550" y="2492573"/>
            <a:ext cx="4670583" cy="293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38BDF8"/>
                </a:solidFill>
                <a:latin typeface="Space Grotesk"/>
                <a:ea typeface="Space Grotesk"/>
                <a:cs typeface="Space Grotesk"/>
                <a:sym typeface="Space Grotesk"/>
              </a:rPr>
              <a:t>NIST (SP 800-63B)</a:t>
            </a:r>
            <a:endParaRPr/>
          </a:p>
        </p:txBody>
      </p:sp>
      <p:sp>
        <p:nvSpPr>
          <p:cNvPr id="245" name="Google Shape;245;p22"/>
          <p:cNvSpPr txBox="1"/>
          <p:nvPr/>
        </p:nvSpPr>
        <p:spPr>
          <a:xfrm>
            <a:off x="971550" y="2976413"/>
            <a:ext cx="44481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O Instituto Nacional de Padrões e Tecnologia dos EUA classifica o </a:t>
            </a:r>
            <a:r>
              <a:rPr lang="en-US" sz="1500" b="1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SMS como "Restrito"</a:t>
            </a: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.</a:t>
            </a:r>
            <a:endParaRPr/>
          </a:p>
        </p:txBody>
      </p:sp>
      <p:sp>
        <p:nvSpPr>
          <p:cNvPr id="246" name="Google Shape;246;p22"/>
          <p:cNvSpPr txBox="1"/>
          <p:nvPr/>
        </p:nvSpPr>
        <p:spPr>
          <a:xfrm>
            <a:off x="971550" y="3776513"/>
            <a:ext cx="444817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Recomenda o abandono do SMS em favor de tokens de hardware ou aplicações criptográficas devido às falhas na rede SS7.</a:t>
            </a:r>
            <a:endParaRPr/>
          </a:p>
        </p:txBody>
      </p:sp>
      <p:sp>
        <p:nvSpPr>
          <p:cNvPr id="247" name="Google Shape;247;p22"/>
          <p:cNvSpPr txBox="1"/>
          <p:nvPr/>
        </p:nvSpPr>
        <p:spPr>
          <a:xfrm>
            <a:off x="6772275" y="2492573"/>
            <a:ext cx="4670583" cy="293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38BDF8"/>
                </a:solidFill>
                <a:latin typeface="Space Grotesk"/>
                <a:ea typeface="Space Grotesk"/>
                <a:cs typeface="Space Grotesk"/>
                <a:sym typeface="Space Grotesk"/>
              </a:rPr>
              <a:t>PSD2 (União Europeia)</a:t>
            </a:r>
            <a:endParaRPr/>
          </a:p>
        </p:txBody>
      </p:sp>
      <p:sp>
        <p:nvSpPr>
          <p:cNvPr id="248" name="Google Shape;248;p22"/>
          <p:cNvSpPr txBox="1"/>
          <p:nvPr/>
        </p:nvSpPr>
        <p:spPr>
          <a:xfrm>
            <a:off x="6772275" y="2976413"/>
            <a:ext cx="44481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Diretiva que exige </a:t>
            </a:r>
            <a:r>
              <a:rPr lang="en-US" sz="1500" b="1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Autenticação Forte (SCA)</a:t>
            </a: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para pagamentos.</a:t>
            </a:r>
            <a:endParaRPr/>
          </a:p>
        </p:txBody>
      </p:sp>
      <p:sp>
        <p:nvSpPr>
          <p:cNvPr id="249" name="Google Shape;249;p22"/>
          <p:cNvSpPr txBox="1"/>
          <p:nvPr/>
        </p:nvSpPr>
        <p:spPr>
          <a:xfrm>
            <a:off x="6772275" y="3776513"/>
            <a:ext cx="4448175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Exige 2 de 3 fatores: Conhecimento, Posse e Inerência. Bancos europeus estão a migrar massivamente do SMS para validação biométrica em App.</a:t>
            </a:r>
            <a:endParaRPr/>
          </a:p>
        </p:txBody>
      </p:sp>
      <p:sp>
        <p:nvSpPr>
          <p:cNvPr id="250" name="Google Shape;250;p22"/>
          <p:cNvSpPr txBox="1"/>
          <p:nvPr/>
        </p:nvSpPr>
        <p:spPr>
          <a:xfrm>
            <a:off x="771525" y="581025"/>
            <a:ext cx="11381422" cy="4399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Normas e Regulamentações</a:t>
            </a:r>
            <a:endParaRPr/>
          </a:p>
        </p:txBody>
      </p:sp>
      <p:sp>
        <p:nvSpPr>
          <p:cNvPr id="251" name="Google Shape;251;p22"/>
          <p:cNvSpPr/>
          <p:nvPr/>
        </p:nvSpPr>
        <p:spPr>
          <a:xfrm>
            <a:off x="581025" y="581025"/>
            <a:ext cx="47625" cy="43993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6" name="Google Shape;256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7" name="Google Shape;257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1750" y="1934467"/>
            <a:ext cx="5229225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23"/>
          <p:cNvSpPr txBox="1"/>
          <p:nvPr/>
        </p:nvSpPr>
        <p:spPr>
          <a:xfrm>
            <a:off x="581025" y="2287785"/>
            <a:ext cx="5490686" cy="293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38BDF8"/>
                </a:solidFill>
                <a:latin typeface="Space Grotesk"/>
                <a:ea typeface="Space Grotesk"/>
                <a:cs typeface="Space Grotesk"/>
                <a:sym typeface="Space Grotesk"/>
              </a:rPr>
              <a:t>Além do OTP</a:t>
            </a:r>
            <a:endParaRPr/>
          </a:p>
        </p:txBody>
      </p:sp>
      <p:sp>
        <p:nvSpPr>
          <p:cNvPr id="259" name="Google Shape;259;p23"/>
          <p:cNvSpPr txBox="1"/>
          <p:nvPr/>
        </p:nvSpPr>
        <p:spPr>
          <a:xfrm>
            <a:off x="581025" y="2771626"/>
            <a:ext cx="522922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O mercado caminha para a eliminação das senhas e dos segredos partilhados.</a:t>
            </a:r>
            <a:endParaRPr/>
          </a:p>
        </p:txBody>
      </p:sp>
      <p:pic>
        <p:nvPicPr>
          <p:cNvPr id="260" name="Google Shape;260;p2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91275" y="1943992"/>
            <a:ext cx="5210175" cy="3790950"/>
          </a:xfrm>
          <a:prstGeom prst="rect">
            <a:avLst/>
          </a:prstGeom>
          <a:noFill/>
          <a:ln>
            <a:noFill/>
          </a:ln>
        </p:spPr>
      </p:pic>
      <p:sp>
        <p:nvSpPr>
          <p:cNvPr id="261" name="Google Shape;261;p23"/>
          <p:cNvSpPr txBox="1"/>
          <p:nvPr/>
        </p:nvSpPr>
        <p:spPr>
          <a:xfrm>
            <a:off x="581025" y="3571726"/>
            <a:ext cx="522922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8BDF8"/>
                </a:solidFill>
                <a:latin typeface="Outfit"/>
                <a:ea typeface="Outfit"/>
                <a:cs typeface="Outfit"/>
                <a:sym typeface="Outfit"/>
              </a:rPr>
              <a:t>FIDO2 / WebAuthn: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Usa criptografia assimétrica (chaves pública/privada). A chave privada nunca sai do dispositivo.</a:t>
            </a:r>
            <a:endParaRPr/>
          </a:p>
        </p:txBody>
      </p:sp>
      <p:sp>
        <p:nvSpPr>
          <p:cNvPr id="262" name="Google Shape;262;p23"/>
          <p:cNvSpPr txBox="1"/>
          <p:nvPr/>
        </p:nvSpPr>
        <p:spPr>
          <a:xfrm>
            <a:off x="581025" y="4324201"/>
            <a:ext cx="522922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8BDF8"/>
                </a:solidFill>
                <a:latin typeface="Outfit"/>
                <a:ea typeface="Outfit"/>
                <a:cs typeface="Outfit"/>
                <a:sym typeface="Outfit"/>
              </a:rPr>
              <a:t>Passkeys: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Implementação comercial do FIDO2 (Apple, Google, Microsoft). Autenticação via biometria (FaceID/TouchID).</a:t>
            </a:r>
            <a:endParaRPr/>
          </a:p>
        </p:txBody>
      </p:sp>
      <p:sp>
        <p:nvSpPr>
          <p:cNvPr id="263" name="Google Shape;263;p23"/>
          <p:cNvSpPr txBox="1"/>
          <p:nvPr/>
        </p:nvSpPr>
        <p:spPr>
          <a:xfrm>
            <a:off x="771525" y="581025"/>
            <a:ext cx="11381422" cy="4399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O Futuro: Passwordless</a:t>
            </a:r>
            <a:endParaRPr/>
          </a:p>
        </p:txBody>
      </p:sp>
      <p:sp>
        <p:nvSpPr>
          <p:cNvPr id="264" name="Google Shape;264;p23"/>
          <p:cNvSpPr/>
          <p:nvPr/>
        </p:nvSpPr>
        <p:spPr>
          <a:xfrm>
            <a:off x="581025" y="581025"/>
            <a:ext cx="47625" cy="43993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9" name="Google Shape;269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278;p25" descr="image.png">
            <a:extLst>
              <a:ext uri="{FF2B5EF4-FFF2-40B4-BE49-F238E27FC236}">
                <a16:creationId xmlns:a16="http://schemas.microsoft.com/office/drawing/2014/main" id="{2A9D5F72-D237-6E0F-BC84-15F65F92A59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80925" y="-102412"/>
            <a:ext cx="12556150" cy="7062826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24"/>
          <p:cNvSpPr/>
          <p:nvPr/>
        </p:nvSpPr>
        <p:spPr>
          <a:xfrm>
            <a:off x="5619750" y="2105173"/>
            <a:ext cx="95250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24"/>
          <p:cNvSpPr txBox="1"/>
          <p:nvPr/>
        </p:nvSpPr>
        <p:spPr>
          <a:xfrm>
            <a:off x="4485798" y="2429023"/>
            <a:ext cx="3220402" cy="6704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cap="none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Conclusão</a:t>
            </a:r>
            <a:endParaRPr/>
          </a:p>
        </p:txBody>
      </p:sp>
      <p:sp>
        <p:nvSpPr>
          <p:cNvPr id="272" name="Google Shape;272;p24"/>
          <p:cNvSpPr txBox="1"/>
          <p:nvPr/>
        </p:nvSpPr>
        <p:spPr>
          <a:xfrm>
            <a:off x="2286000" y="3289994"/>
            <a:ext cx="7620000" cy="7313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O OTP foi um salto qualitativo essencial na segurança, mitigando a reutilização de senhas. Contudo, métodos como o SMS estão obsoletos.</a:t>
            </a:r>
            <a:endParaRPr/>
          </a:p>
        </p:txBody>
      </p:sp>
      <p:sp>
        <p:nvSpPr>
          <p:cNvPr id="273" name="Google Shape;273;p24"/>
          <p:cNvSpPr txBox="1"/>
          <p:nvPr/>
        </p:nvSpPr>
        <p:spPr>
          <a:xfrm>
            <a:off x="2286000" y="4307085"/>
            <a:ext cx="7620000" cy="7313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8BDF8"/>
                </a:solidFill>
                <a:latin typeface="Outfit"/>
                <a:ea typeface="Outfit"/>
                <a:cs typeface="Outfit"/>
                <a:sym typeface="Outfit"/>
              </a:rPr>
              <a:t>A estratégia ideal combina algoritmos TOTP hoje, enquanto prepara a transição para </a:t>
            </a:r>
            <a:r>
              <a:rPr lang="en-US" sz="1800" b="1" i="0" u="none" strike="noStrike" cap="none">
                <a:solidFill>
                  <a:srgbClr val="38BDF8"/>
                </a:solidFill>
                <a:latin typeface="Outfit"/>
                <a:ea typeface="Outfit"/>
                <a:cs typeface="Outfit"/>
                <a:sym typeface="Outfit"/>
              </a:rPr>
              <a:t>Passkeys</a:t>
            </a:r>
            <a:r>
              <a:rPr lang="en-US" sz="1800" b="0" i="0" u="none" strike="noStrike" cap="none">
                <a:solidFill>
                  <a:srgbClr val="38BDF8"/>
                </a:solidFill>
                <a:latin typeface="Outfit"/>
                <a:ea typeface="Outfit"/>
                <a:cs typeface="Outfit"/>
                <a:sym typeface="Outfit"/>
              </a:rPr>
              <a:t> e um futuro sem senhas.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8" name="Google Shape;278;p2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80925" y="-102412"/>
            <a:ext cx="12556150" cy="7062826"/>
          </a:xfrm>
          <a:prstGeom prst="rect">
            <a:avLst/>
          </a:prstGeom>
          <a:noFill/>
          <a:ln>
            <a:noFill/>
          </a:ln>
        </p:spPr>
      </p:pic>
      <p:sp>
        <p:nvSpPr>
          <p:cNvPr id="279" name="Google Shape;279;p25"/>
          <p:cNvSpPr/>
          <p:nvPr/>
        </p:nvSpPr>
        <p:spPr>
          <a:xfrm>
            <a:off x="581025" y="2568029"/>
            <a:ext cx="11029950" cy="784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25"/>
          <p:cNvSpPr/>
          <p:nvPr/>
        </p:nvSpPr>
        <p:spPr>
          <a:xfrm>
            <a:off x="581025" y="3352800"/>
            <a:ext cx="11029950" cy="784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25"/>
          <p:cNvSpPr/>
          <p:nvPr/>
        </p:nvSpPr>
        <p:spPr>
          <a:xfrm>
            <a:off x="581025" y="3343275"/>
            <a:ext cx="1102995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25"/>
          <p:cNvSpPr/>
          <p:nvPr/>
        </p:nvSpPr>
        <p:spPr>
          <a:xfrm>
            <a:off x="581025" y="3343275"/>
            <a:ext cx="1102995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25"/>
          <p:cNvSpPr/>
          <p:nvPr/>
        </p:nvSpPr>
        <p:spPr>
          <a:xfrm>
            <a:off x="581025" y="4128045"/>
            <a:ext cx="1102995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25"/>
          <p:cNvSpPr/>
          <p:nvPr/>
        </p:nvSpPr>
        <p:spPr>
          <a:xfrm>
            <a:off x="581025" y="4128045"/>
            <a:ext cx="1102995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5" name="Google Shape;285;p2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717452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86" name="Google Shape;286;p25"/>
          <p:cNvSpPr txBox="1"/>
          <p:nvPr/>
        </p:nvSpPr>
        <p:spPr>
          <a:xfrm>
            <a:off x="1676400" y="2710904"/>
            <a:ext cx="9934575" cy="198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https://iosxpert.biz/wp-content/uploads/2023/01/Two-Factor-Authentication@2x-1-1024x592.png.webp</a:t>
            </a:r>
            <a:endParaRPr/>
          </a:p>
        </p:txBody>
      </p:sp>
      <p:sp>
        <p:nvSpPr>
          <p:cNvPr id="287" name="Google Shape;287;p25"/>
          <p:cNvSpPr txBox="1"/>
          <p:nvPr/>
        </p:nvSpPr>
        <p:spPr>
          <a:xfrm>
            <a:off x="1676400" y="2956619"/>
            <a:ext cx="9934575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Outfit"/>
                <a:ea typeface="Outfit"/>
                <a:cs typeface="Outfit"/>
                <a:sym typeface="Outfit"/>
              </a:rPr>
              <a:t>iosxpert.biz</a:t>
            </a:r>
            <a:endParaRPr/>
          </a:p>
        </p:txBody>
      </p:sp>
      <p:pic>
        <p:nvPicPr>
          <p:cNvPr id="288" name="Google Shape;288;p2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81025" y="3502223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25"/>
          <p:cNvSpPr txBox="1"/>
          <p:nvPr/>
        </p:nvSpPr>
        <p:spPr>
          <a:xfrm>
            <a:off x="1676400" y="3495675"/>
            <a:ext cx="9934575" cy="198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https://static.vecteezy.com/system/resources/previews/059/447/435/non_2x/hacker-silhouette-illustration-cyber-security-digital-crime-concept-vector.jpg</a:t>
            </a:r>
            <a:endParaRPr/>
          </a:p>
        </p:txBody>
      </p:sp>
      <p:sp>
        <p:nvSpPr>
          <p:cNvPr id="290" name="Google Shape;290;p25"/>
          <p:cNvSpPr txBox="1"/>
          <p:nvPr/>
        </p:nvSpPr>
        <p:spPr>
          <a:xfrm>
            <a:off x="1676400" y="3741390"/>
            <a:ext cx="9934575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Outfit"/>
                <a:ea typeface="Outfit"/>
                <a:cs typeface="Outfit"/>
                <a:sym typeface="Outfit"/>
              </a:rPr>
              <a:t>www.vecteezy.com</a:t>
            </a:r>
            <a:endParaRPr/>
          </a:p>
        </p:txBody>
      </p:sp>
      <p:pic>
        <p:nvPicPr>
          <p:cNvPr id="291" name="Google Shape;291;p2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81025" y="4386113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92" name="Google Shape;292;p25"/>
          <p:cNvSpPr txBox="1"/>
          <p:nvPr/>
        </p:nvSpPr>
        <p:spPr>
          <a:xfrm>
            <a:off x="1676400" y="4280445"/>
            <a:ext cx="9934575" cy="396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https://img.freepik.com/premium-photo/facial-recognition-scanning-smartphone-digital-identity-biometric-technology-futuristic-security-artificial-intelligence-face-scan-interface-mobile-authentication_72482-15163.jpg</a:t>
            </a:r>
            <a:endParaRPr/>
          </a:p>
        </p:txBody>
      </p:sp>
      <p:sp>
        <p:nvSpPr>
          <p:cNvPr id="293" name="Google Shape;293;p25"/>
          <p:cNvSpPr txBox="1"/>
          <p:nvPr/>
        </p:nvSpPr>
        <p:spPr>
          <a:xfrm>
            <a:off x="1676400" y="4724251"/>
            <a:ext cx="9934575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Outfit"/>
                <a:ea typeface="Outfit"/>
                <a:cs typeface="Outfit"/>
                <a:sym typeface="Outfit"/>
              </a:rPr>
              <a:t>www.freepik.com</a:t>
            </a:r>
            <a:endParaRPr/>
          </a:p>
        </p:txBody>
      </p:sp>
      <p:sp>
        <p:nvSpPr>
          <p:cNvPr id="294" name="Google Shape;294;p25"/>
          <p:cNvSpPr txBox="1"/>
          <p:nvPr/>
        </p:nvSpPr>
        <p:spPr>
          <a:xfrm>
            <a:off x="771525" y="581025"/>
            <a:ext cx="11381422" cy="4399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Image Sources</a:t>
            </a:r>
            <a:endParaRPr/>
          </a:p>
        </p:txBody>
      </p:sp>
      <p:sp>
        <p:nvSpPr>
          <p:cNvPr id="295" name="Google Shape;295;p25"/>
          <p:cNvSpPr/>
          <p:nvPr/>
        </p:nvSpPr>
        <p:spPr>
          <a:xfrm>
            <a:off x="581025" y="581025"/>
            <a:ext cx="47625" cy="43993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827</Words>
  <Application>Microsoft Office PowerPoint</Application>
  <PresentationFormat>Ecrã Panorâmico</PresentationFormat>
  <Paragraphs>97</Paragraphs>
  <Slides>13</Slides>
  <Notes>13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13</vt:i4>
      </vt:variant>
    </vt:vector>
  </HeadingPairs>
  <TitlesOfParts>
    <vt:vector size="18" baseType="lpstr">
      <vt:lpstr>Arial</vt:lpstr>
      <vt:lpstr>Space Grotesk</vt:lpstr>
      <vt:lpstr>Calibri</vt:lpstr>
      <vt:lpstr>Outfit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Vasco Morais Gonçalves</cp:lastModifiedBy>
  <cp:revision>1</cp:revision>
  <dcterms:modified xsi:type="dcterms:W3CDTF">2026-01-17T19:39:19Z</dcterms:modified>
</cp:coreProperties>
</file>